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media/image3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63" r:id="rId2"/>
    <p:sldId id="261" r:id="rId3"/>
    <p:sldId id="264" r:id="rId4"/>
    <p:sldId id="265" r:id="rId11"/>
  </p:sldIdLst>
  <p:sldSz cx="9144000" cy="5143500" type="screen16x9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A96"/>
    <a:srgbClr val="72777A"/>
    <a:srgbClr val="8BB3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5652" autoAdjust="0"/>
  </p:normalViewPr>
  <p:slideViewPr>
    <p:cSldViewPr snapToGrid="0">
      <p:cViewPr varScale="1">
        <p:scale>
          <a:sx n="120" d="100"/>
          <a:sy n="120" d="100"/>
        </p:scale>
        <p:origin x="398" y="8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70" d="100"/>
          <a:sy n="70" d="100"/>
        </p:scale>
        <p:origin x="2514" y="6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4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7B9070-9281-4B15-842B-9B135EE24603}" type="datetimeFigureOut">
              <a:rPr lang="de-AT" smtClean="0"/>
              <a:t>09.06.2023</a:t>
            </a:fld>
            <a:endParaRPr lang="de-AT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7FC8AE-2100-403C-A265-5E8967C6F3BC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0652336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3A4CAD-2332-440A-B5F3-F5F26A7FAEC2}" type="datetimeFigureOut">
              <a:rPr lang="en-US" smtClean="0"/>
              <a:t>6/9/2023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FE4289-A74F-4222-9B90-D9BDCFD3E1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702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Foto Technikum Ta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BEC87-611C-4FE7-801A-2BABE5B268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8963" y="3599414"/>
            <a:ext cx="5897562" cy="439153"/>
          </a:xfrm>
        </p:spPr>
        <p:txBody>
          <a:bodyPr/>
          <a:lstStyle>
            <a:lvl1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1pPr>
          </a:lstStyle>
          <a:p>
            <a:r>
              <a:rPr lang="en-US" dirty="0" err="1"/>
              <a:t>Titel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5C50F5-E4A6-49CB-8F10-BB04F42894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128963" y="4294464"/>
            <a:ext cx="5897561" cy="359569"/>
          </a:xfrm>
        </p:spPr>
        <p:txBody>
          <a:bodyPr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1pPr>
            <a:lvl2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2pPr>
            <a:lvl3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3pPr>
            <a:lvl4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4pPr>
            <a:lvl5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5pPr>
          </a:lstStyle>
          <a:p>
            <a:pPr lvl="0"/>
            <a:r>
              <a:rPr lang="en-US" dirty="0" err="1"/>
              <a:t>Untertitel</a:t>
            </a:r>
            <a:r>
              <a:rPr lang="en-US" dirty="0"/>
              <a:t> / Autor</a:t>
            </a:r>
            <a:endParaRPr lang="en-AT" dirty="0"/>
          </a:p>
        </p:txBody>
      </p:sp>
      <p:pic>
        <p:nvPicPr>
          <p:cNvPr id="9" name="Grafik 8" descr="FH Technikum Wien - University of Applied Sciences">
            <a:extLst>
              <a:ext uri="{FF2B5EF4-FFF2-40B4-BE49-F238E27FC236}">
                <a16:creationId xmlns:a16="http://schemas.microsoft.com/office/drawing/2014/main" id="{E912822A-9B89-4584-AA9B-A21C38C2402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5018" y="1916907"/>
            <a:ext cx="3366982" cy="2121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494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Foto Technikum Nac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A86F4-3070-4C24-8038-34CAB4816F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33971" y="3599413"/>
            <a:ext cx="5861296" cy="439153"/>
          </a:xfrm>
        </p:spPr>
        <p:txBody>
          <a:bodyPr/>
          <a:lstStyle>
            <a:lvl1pPr>
              <a:defRPr>
                <a:solidFill>
                  <a:schemeClr val="bg1"/>
                </a:solidFill>
                <a:highlight>
                  <a:srgbClr val="72777A"/>
                </a:highlight>
              </a:defRPr>
            </a:lvl1pPr>
          </a:lstStyle>
          <a:p>
            <a:r>
              <a:rPr lang="de-DE" dirty="0"/>
              <a:t>Titel</a:t>
            </a:r>
            <a:endParaRPr lang="en-GB" dirty="0"/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16AE9FB-C334-42DE-8F45-21484CB840F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141785" y="4279053"/>
            <a:ext cx="5861295" cy="359569"/>
          </a:xfrm>
        </p:spPr>
        <p:txBody>
          <a:bodyPr wrap="square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  <a:highlight>
                  <a:srgbClr val="72777A"/>
                </a:highlight>
              </a:defRPr>
            </a:lvl1pPr>
            <a:lvl2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2pPr>
            <a:lvl3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3pPr>
            <a:lvl4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4pPr>
            <a:lvl5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5pPr>
          </a:lstStyle>
          <a:p>
            <a:pPr lvl="0"/>
            <a:r>
              <a:rPr lang="en-US" dirty="0" err="1"/>
              <a:t>Untertitel</a:t>
            </a:r>
            <a:r>
              <a:rPr lang="en-US" dirty="0"/>
              <a:t> / Autor</a:t>
            </a:r>
            <a:endParaRPr lang="en-AT" dirty="0"/>
          </a:p>
        </p:txBody>
      </p:sp>
      <p:pic>
        <p:nvPicPr>
          <p:cNvPr id="5" name="Grafik 4" descr="FH Technikum Wien - University of Applied Sciences">
            <a:extLst>
              <a:ext uri="{FF2B5EF4-FFF2-40B4-BE49-F238E27FC236}">
                <a16:creationId xmlns:a16="http://schemas.microsoft.com/office/drawing/2014/main" id="{36DE48FA-9F9C-4F81-A9C6-3FAA23DE153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5018" y="1916906"/>
            <a:ext cx="3366982" cy="2121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188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Balken Gr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3331747" y="3216528"/>
            <a:ext cx="5694779" cy="433138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>
              <a:defRPr sz="27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Titel</a:t>
            </a:r>
            <a:endParaRPr lang="de-AT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C28234-80A7-441C-9E93-EC38F62D80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31746" y="3888000"/>
            <a:ext cx="5694779" cy="359569"/>
          </a:xfrm>
        </p:spPr>
        <p:txBody>
          <a:bodyPr wrap="square">
            <a:normAutofit/>
          </a:bodyPr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2pPr>
            <a:lvl3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3pPr>
            <a:lvl4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4pPr>
            <a:lvl5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5pPr>
          </a:lstStyle>
          <a:p>
            <a:pPr lvl="0"/>
            <a:r>
              <a:rPr lang="en-US" dirty="0" err="1"/>
              <a:t>Untertitel</a:t>
            </a:r>
            <a:r>
              <a:rPr lang="en-US" dirty="0"/>
              <a:t> / Autor</a:t>
            </a:r>
            <a:endParaRPr lang="en-AT" dirty="0"/>
          </a:p>
        </p:txBody>
      </p:sp>
      <p:pic>
        <p:nvPicPr>
          <p:cNvPr id="3" name="Grafik 2" descr="FH Technikum Wien - University of Applied Sciences">
            <a:extLst>
              <a:ext uri="{FF2B5EF4-FFF2-40B4-BE49-F238E27FC236}">
                <a16:creationId xmlns:a16="http://schemas.microsoft.com/office/drawing/2014/main" id="{297655D6-11DD-4FCD-A16D-41373134CF7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7656" y="1020766"/>
            <a:ext cx="4171950" cy="262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216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Balken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3331747" y="3216528"/>
            <a:ext cx="5694779" cy="433138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>
              <a:defRPr sz="2700">
                <a:solidFill>
                  <a:srgbClr val="005A96"/>
                </a:solidFill>
              </a:defRPr>
            </a:lvl1pPr>
          </a:lstStyle>
          <a:p>
            <a:r>
              <a:rPr lang="de-DE" dirty="0"/>
              <a:t>Titel</a:t>
            </a:r>
            <a:endParaRPr lang="de-AT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993B6AF-0521-4A85-891D-947C2C556B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31746" y="3888000"/>
            <a:ext cx="5694779" cy="359569"/>
          </a:xfrm>
        </p:spPr>
        <p:txBody>
          <a:bodyPr wrap="square">
            <a:normAutofit/>
          </a:bodyPr>
          <a:lstStyle>
            <a:lvl1pPr marL="0" indent="0">
              <a:buNone/>
              <a:defRPr>
                <a:solidFill>
                  <a:srgbClr val="005A96"/>
                </a:solidFill>
              </a:defRPr>
            </a:lvl1pPr>
            <a:lvl2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2pPr>
            <a:lvl3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3pPr>
            <a:lvl4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4pPr>
            <a:lvl5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5pPr>
          </a:lstStyle>
          <a:p>
            <a:pPr lvl="0"/>
            <a:r>
              <a:rPr lang="en-US" dirty="0" err="1"/>
              <a:t>Untertitel</a:t>
            </a:r>
            <a:r>
              <a:rPr lang="en-US" dirty="0"/>
              <a:t> / Autor</a:t>
            </a:r>
            <a:endParaRPr lang="en-AT" dirty="0"/>
          </a:p>
        </p:txBody>
      </p:sp>
      <p:pic>
        <p:nvPicPr>
          <p:cNvPr id="5" name="Grafik 4" descr="FH Technikum Wien - University of Applied Sciences">
            <a:extLst>
              <a:ext uri="{FF2B5EF4-FFF2-40B4-BE49-F238E27FC236}">
                <a16:creationId xmlns:a16="http://schemas.microsoft.com/office/drawing/2014/main" id="{521AFF37-CD1E-46E6-AE37-FDEED49D26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7656" y="1020766"/>
            <a:ext cx="4171950" cy="262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876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 Balken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platzhalter 1">
            <a:extLst>
              <a:ext uri="{FF2B5EF4-FFF2-40B4-BE49-F238E27FC236}">
                <a16:creationId xmlns:a16="http://schemas.microsoft.com/office/drawing/2014/main" id="{3ED02347-5B9C-47C3-9770-0CA1C1115E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59084" y="3582896"/>
            <a:ext cx="5216215" cy="53190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7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Titel</a:t>
            </a:r>
            <a:endParaRPr lang="de-AT" dirty="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C861E06E-01BF-45E4-B05F-CDFA812E769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59084" y="4182295"/>
            <a:ext cx="5216215" cy="359569"/>
          </a:xfrm>
        </p:spPr>
        <p:txBody>
          <a:bodyPr wrap="square">
            <a:normAutofit/>
          </a:bodyPr>
          <a:lstStyle>
            <a:lvl1pPr marL="0" indent="0" algn="r">
              <a:buNone/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2pPr>
            <a:lvl3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3pPr>
            <a:lvl4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4pPr>
            <a:lvl5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5pPr>
          </a:lstStyle>
          <a:p>
            <a:pPr lvl="0"/>
            <a:r>
              <a:rPr lang="en-US" dirty="0" err="1"/>
              <a:t>Untertitel</a:t>
            </a:r>
            <a:r>
              <a:rPr lang="en-US" dirty="0"/>
              <a:t> / Autor</a:t>
            </a:r>
            <a:endParaRPr lang="en-AT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13F895DB-6C5B-416C-840B-FDB951A385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701" y="-308648"/>
            <a:ext cx="7406598" cy="4166212"/>
          </a:xfrm>
          <a:prstGeom prst="rect">
            <a:avLst/>
          </a:prstGeom>
        </p:spPr>
      </p:pic>
      <p:pic>
        <p:nvPicPr>
          <p:cNvPr id="8" name="Grafik 7" descr="FH Technikum Wien - University of Applied Sciences">
            <a:extLst>
              <a:ext uri="{FF2B5EF4-FFF2-40B4-BE49-F238E27FC236}">
                <a16:creationId xmlns:a16="http://schemas.microsoft.com/office/drawing/2014/main" id="{1D30033D-611F-4A97-9A01-BE499811FCB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2874" y="3214292"/>
            <a:ext cx="2622133" cy="1652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063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nur Text Gr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252000" y="1500740"/>
            <a:ext cx="8640000" cy="10800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4050" baseline="0">
                <a:solidFill>
                  <a:srgbClr val="72777A"/>
                </a:solidFill>
              </a:defRPr>
            </a:lvl1pPr>
          </a:lstStyle>
          <a:p>
            <a:r>
              <a:rPr lang="de-DE" dirty="0" err="1"/>
              <a:t>Präsentations</a:t>
            </a:r>
            <a:r>
              <a:rPr lang="de-DE" dirty="0"/>
              <a:t> Titel</a:t>
            </a:r>
            <a:br>
              <a:rPr lang="de-DE" dirty="0"/>
            </a:br>
            <a:r>
              <a:rPr lang="de-DE" dirty="0"/>
              <a:t>(Arial </a:t>
            </a:r>
            <a:r>
              <a:rPr lang="de-DE" dirty="0" err="1"/>
              <a:t>Bold</a:t>
            </a:r>
            <a:r>
              <a:rPr lang="de-DE" dirty="0"/>
              <a:t>, 54pt)</a:t>
            </a:r>
            <a:endParaRPr lang="de-AT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A4DA91-D7A9-4048-B82C-A20ED8AA6C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2000" y="2663034"/>
            <a:ext cx="8640000" cy="359569"/>
          </a:xfrm>
        </p:spPr>
        <p:txBody>
          <a:bodyPr wrap="square">
            <a:normAutofit/>
          </a:bodyPr>
          <a:lstStyle>
            <a:lvl1pPr marL="0" indent="0" algn="r">
              <a:buNone/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2pPr>
            <a:lvl3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3pPr>
            <a:lvl4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4pPr>
            <a:lvl5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5pPr>
          </a:lstStyle>
          <a:p>
            <a:pPr lvl="0"/>
            <a:r>
              <a:rPr lang="en-US" dirty="0" err="1"/>
              <a:t>Untertitel</a:t>
            </a:r>
            <a:r>
              <a:rPr lang="en-US" dirty="0"/>
              <a:t> / Autor</a:t>
            </a:r>
            <a:endParaRPr lang="en-AT" dirty="0"/>
          </a:p>
        </p:txBody>
      </p:sp>
      <p:pic>
        <p:nvPicPr>
          <p:cNvPr id="6" name="Grafik 5" descr="FH Technikum Wien - University of Applied Sciences">
            <a:extLst>
              <a:ext uri="{FF2B5EF4-FFF2-40B4-BE49-F238E27FC236}">
                <a16:creationId xmlns:a16="http://schemas.microsoft.com/office/drawing/2014/main" id="{857FD1FE-107F-4E9C-BAAF-2F91441FA80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88826" y="3208647"/>
            <a:ext cx="3242514" cy="2043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007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nur Text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252000" y="1499456"/>
            <a:ext cx="8640000" cy="10800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4050" baseline="0">
                <a:solidFill>
                  <a:srgbClr val="005A96"/>
                </a:solidFill>
              </a:defRPr>
            </a:lvl1pPr>
          </a:lstStyle>
          <a:p>
            <a:r>
              <a:rPr lang="de-DE" dirty="0" err="1"/>
              <a:t>Präsentations</a:t>
            </a:r>
            <a:r>
              <a:rPr lang="de-DE" dirty="0"/>
              <a:t> Titel</a:t>
            </a:r>
            <a:br>
              <a:rPr lang="de-DE" dirty="0"/>
            </a:br>
            <a:r>
              <a:rPr lang="de-DE" dirty="0"/>
              <a:t>(Arial </a:t>
            </a:r>
            <a:r>
              <a:rPr lang="de-DE" dirty="0" err="1"/>
              <a:t>Bold</a:t>
            </a:r>
            <a:r>
              <a:rPr lang="de-DE" dirty="0"/>
              <a:t>, 54pt)</a:t>
            </a:r>
            <a:endParaRPr lang="de-AT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9247A6-7FA5-4C70-B8D4-64482CCCCA0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2000" y="2659502"/>
            <a:ext cx="8640000" cy="359569"/>
          </a:xfrm>
        </p:spPr>
        <p:txBody>
          <a:bodyPr wrap="square">
            <a:normAutofit/>
          </a:bodyPr>
          <a:lstStyle>
            <a:lvl1pPr marL="0" indent="0" algn="r">
              <a:buNone/>
              <a:defRPr>
                <a:solidFill>
                  <a:srgbClr val="005A96"/>
                </a:solidFill>
              </a:defRPr>
            </a:lvl1pPr>
            <a:lvl2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2pPr>
            <a:lvl3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3pPr>
            <a:lvl4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4pPr>
            <a:lvl5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5pPr>
          </a:lstStyle>
          <a:p>
            <a:pPr lvl="0"/>
            <a:r>
              <a:rPr lang="en-US" dirty="0" err="1"/>
              <a:t>Untertitel</a:t>
            </a:r>
            <a:r>
              <a:rPr lang="en-US" dirty="0"/>
              <a:t> / Autor</a:t>
            </a:r>
            <a:endParaRPr lang="en-AT" dirty="0"/>
          </a:p>
        </p:txBody>
      </p:sp>
      <p:pic>
        <p:nvPicPr>
          <p:cNvPr id="6" name="Grafik 5" descr="FH Technikum Wien - University of Applied Sciences">
            <a:extLst>
              <a:ext uri="{FF2B5EF4-FFF2-40B4-BE49-F238E27FC236}">
                <a16:creationId xmlns:a16="http://schemas.microsoft.com/office/drawing/2014/main" id="{6501A466-0610-40A9-AB61-914300F4FE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11312" y="3186162"/>
            <a:ext cx="3242514" cy="2043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908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01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180000" y="114303"/>
            <a:ext cx="8775320" cy="4391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Folien Überschrift 1 (Arial </a:t>
            </a:r>
            <a:r>
              <a:rPr lang="de-DE" dirty="0" err="1"/>
              <a:t>Bold</a:t>
            </a:r>
            <a:r>
              <a:rPr lang="de-DE" dirty="0"/>
              <a:t>, 36pt)</a:t>
            </a:r>
            <a:br>
              <a:rPr lang="de-DE" dirty="0"/>
            </a:b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26306D8-CDF4-4F2E-9FBD-C5E3FF89EA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0001" y="607500"/>
            <a:ext cx="8775319" cy="405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 dirty="0"/>
          </a:p>
        </p:txBody>
      </p:sp>
      <p:cxnSp>
        <p:nvCxnSpPr>
          <p:cNvPr id="10" name="Gerader Verbinder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555052" y="4767638"/>
            <a:ext cx="0" cy="33363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0" y="4737152"/>
            <a:ext cx="9144000" cy="0"/>
          </a:xfrm>
          <a:prstGeom prst="line">
            <a:avLst/>
          </a:prstGeom>
          <a:ln w="12700">
            <a:solidFill>
              <a:srgbClr val="727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6A27FB59-6516-4608-814D-69599966B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Präsentationstitel | Name | Datum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E27BF722-F8E8-4DC1-892E-9949A74220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C057DB4-583E-41A7-BD94-987342018C17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585D0149-746E-4803-A83D-AA7F099F90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04300"/>
            <a:ext cx="696991" cy="43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492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02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180000" y="114303"/>
            <a:ext cx="8784000" cy="4391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Folien Überschrift 1 (Arial </a:t>
            </a:r>
            <a:r>
              <a:rPr lang="de-DE" dirty="0" err="1"/>
              <a:t>Bold</a:t>
            </a:r>
            <a:r>
              <a:rPr lang="de-DE" dirty="0"/>
              <a:t>, 36pt)</a:t>
            </a:r>
            <a:br>
              <a:rPr lang="de-DE" dirty="0"/>
            </a:b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F491F86-EE9A-4115-A727-4BDFC52E901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9388" y="607500"/>
            <a:ext cx="4320000" cy="405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 dirty="0"/>
          </a:p>
        </p:txBody>
      </p:sp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A54ADA3D-EE1E-4DDD-A462-1405A7DF6AC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44614" y="607500"/>
            <a:ext cx="4320000" cy="405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 dirty="0"/>
          </a:p>
        </p:txBody>
      </p:sp>
      <p:cxnSp>
        <p:nvCxnSpPr>
          <p:cNvPr id="24" name="Gerader Verbinder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0" y="4729447"/>
            <a:ext cx="9144000" cy="0"/>
          </a:xfrm>
          <a:prstGeom prst="line">
            <a:avLst/>
          </a:prstGeom>
          <a:ln w="12700">
            <a:solidFill>
              <a:srgbClr val="727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r Verbin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555052" y="4767638"/>
            <a:ext cx="0" cy="33363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379EACA-542A-420D-9102-D87CB5A116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Präsentationstitel | Name | Datum</a:t>
            </a:r>
            <a:endParaRPr lang="en-GB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EEBB329-097D-444A-8D3F-2D2FDAAC4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9C057DB4-583E-41A7-BD94-987342018C17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5395CAF2-D757-4B2C-A53F-C65EB56E5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04300"/>
            <a:ext cx="696991" cy="43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513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01 Gr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1"/>
            <a:ext cx="9144000" cy="4729447"/>
          </a:xfrm>
          <a:prstGeom prst="rect">
            <a:avLst/>
          </a:prstGeom>
          <a:solidFill>
            <a:srgbClr val="7277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sz="1350" dirty="0"/>
          </a:p>
        </p:txBody>
      </p:sp>
      <p:sp>
        <p:nvSpPr>
          <p:cNvPr id="23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180001" y="114303"/>
            <a:ext cx="8768791" cy="4391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Folien Überschrift 1 (Arial </a:t>
            </a:r>
            <a:r>
              <a:rPr lang="de-DE" dirty="0" err="1"/>
              <a:t>Bold</a:t>
            </a:r>
            <a:r>
              <a:rPr lang="de-DE" dirty="0"/>
              <a:t>, 36pt)</a:t>
            </a:r>
            <a:br>
              <a:rPr lang="de-DE" dirty="0"/>
            </a:br>
            <a:endParaRPr lang="de-AT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3F425C1B-10D2-421C-8EE6-8F68F5FA0A0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0000" y="607500"/>
            <a:ext cx="8768791" cy="40500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 sz="105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 dirty="0"/>
          </a:p>
        </p:txBody>
      </p:sp>
      <p:cxnSp>
        <p:nvCxnSpPr>
          <p:cNvPr id="24" name="Gerader Verbinder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0" y="4729447"/>
            <a:ext cx="9144000" cy="0"/>
          </a:xfrm>
          <a:prstGeom prst="line">
            <a:avLst/>
          </a:prstGeom>
          <a:ln w="12700">
            <a:solidFill>
              <a:srgbClr val="727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r Verbin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555052" y="4767638"/>
            <a:ext cx="0" cy="33363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BF34B061-0D40-4791-A41B-682280B19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Präsentationstitel | Name | Datum</a:t>
            </a:r>
            <a:endParaRPr lang="en-GB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A7E1EF4B-A968-4425-8367-098DB2AEE2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C057DB4-583E-41A7-BD94-987342018C17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9D14491A-EBBE-4FB6-8BA1-C103D150F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04300"/>
            <a:ext cx="696991" cy="43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7586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02 Gr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1"/>
            <a:ext cx="9144000" cy="4729447"/>
          </a:xfrm>
          <a:prstGeom prst="rect">
            <a:avLst/>
          </a:prstGeom>
          <a:solidFill>
            <a:srgbClr val="7277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sz="1350"/>
          </a:p>
        </p:txBody>
      </p:sp>
      <p:sp>
        <p:nvSpPr>
          <p:cNvPr id="23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180001" y="114303"/>
            <a:ext cx="8758517" cy="4391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Folien Überschrift 1 (Arial </a:t>
            </a:r>
            <a:r>
              <a:rPr lang="de-DE" dirty="0" err="1"/>
              <a:t>Bold</a:t>
            </a:r>
            <a:r>
              <a:rPr lang="de-DE" dirty="0"/>
              <a:t>, 36pt)</a:t>
            </a:r>
            <a:br>
              <a:rPr lang="de-DE" dirty="0"/>
            </a:br>
            <a:endParaRPr lang="de-AT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099191E-06C2-47AD-9B0A-CAC1645FCDE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9388" y="607500"/>
            <a:ext cx="4320000" cy="40500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 dirty="0"/>
          </a:p>
        </p:txBody>
      </p:sp>
      <p:sp>
        <p:nvSpPr>
          <p:cNvPr id="14" name="Textplatzhalter 4">
            <a:extLst>
              <a:ext uri="{FF2B5EF4-FFF2-40B4-BE49-F238E27FC236}">
                <a16:creationId xmlns:a16="http://schemas.microsoft.com/office/drawing/2014/main" id="{1FF655F9-8F0F-4E00-A8EE-9C12E170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15632" y="606217"/>
            <a:ext cx="4320000" cy="40500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 dirty="0"/>
          </a:p>
        </p:txBody>
      </p:sp>
      <p:cxnSp>
        <p:nvCxnSpPr>
          <p:cNvPr id="15" name="Gerader Verbinder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555052" y="4767638"/>
            <a:ext cx="0" cy="33363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0" y="4729447"/>
            <a:ext cx="9144000" cy="0"/>
          </a:xfrm>
          <a:prstGeom prst="line">
            <a:avLst/>
          </a:prstGeom>
          <a:ln w="12700">
            <a:solidFill>
              <a:srgbClr val="727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CEA78A91-4834-4955-816B-A33BE7851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Präsentationstitel | Name | Datum</a:t>
            </a:r>
            <a:endParaRPr lang="en-GB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F41B1D30-8D96-496B-A7F3-BDA41722B7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9C057DB4-583E-41A7-BD94-987342018C17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6A200EBB-4D2E-465A-BA44-8D8FD4CE5E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04300"/>
            <a:ext cx="696991" cy="43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2448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01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1"/>
            <a:ext cx="9144000" cy="4729447"/>
          </a:xfrm>
          <a:prstGeom prst="rect">
            <a:avLst/>
          </a:prstGeom>
          <a:solidFill>
            <a:srgbClr val="005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sz="1350"/>
          </a:p>
        </p:txBody>
      </p:sp>
      <p:sp>
        <p:nvSpPr>
          <p:cNvPr id="23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180001" y="114303"/>
            <a:ext cx="8758517" cy="4391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Folien Überschrift 1 (Arial </a:t>
            </a:r>
            <a:r>
              <a:rPr lang="de-DE" dirty="0" err="1"/>
              <a:t>Bold</a:t>
            </a:r>
            <a:r>
              <a:rPr lang="de-DE" dirty="0"/>
              <a:t>, 36pt)</a:t>
            </a:r>
            <a:br>
              <a:rPr lang="de-DE" dirty="0"/>
            </a:br>
            <a:endParaRPr lang="de-AT" dirty="0"/>
          </a:p>
        </p:txBody>
      </p:sp>
      <p:sp>
        <p:nvSpPr>
          <p:cNvPr id="10" name="Textplatzhalter 5">
            <a:extLst>
              <a:ext uri="{FF2B5EF4-FFF2-40B4-BE49-F238E27FC236}">
                <a16:creationId xmlns:a16="http://schemas.microsoft.com/office/drawing/2014/main" id="{0F4D230B-92FB-4F80-A5D8-47442699E0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0000" y="607500"/>
            <a:ext cx="8768791" cy="40500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 sz="105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 dirty="0"/>
          </a:p>
        </p:txBody>
      </p:sp>
      <p:cxnSp>
        <p:nvCxnSpPr>
          <p:cNvPr id="13" name="Gerader Verbin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555052" y="4767638"/>
            <a:ext cx="0" cy="33363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0" y="4729447"/>
            <a:ext cx="9144000" cy="0"/>
          </a:xfrm>
          <a:prstGeom prst="line">
            <a:avLst/>
          </a:prstGeom>
          <a:ln w="12700">
            <a:solidFill>
              <a:srgbClr val="727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5107673A-A21E-4664-8E91-00B707F809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Präsentationstitel | Name | Datum</a:t>
            </a:r>
            <a:endParaRPr lang="en-GB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D3828A2C-43CF-4B24-AB3D-CA11C4FC4B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C057DB4-583E-41A7-BD94-987342018C17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E502DC7D-CE2C-49A4-AB84-DE425786F4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04300"/>
            <a:ext cx="696991" cy="43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1297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02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1"/>
            <a:ext cx="9144000" cy="4729447"/>
          </a:xfrm>
          <a:prstGeom prst="rect">
            <a:avLst/>
          </a:prstGeom>
          <a:solidFill>
            <a:srgbClr val="005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sz="1350"/>
          </a:p>
        </p:txBody>
      </p:sp>
      <p:sp>
        <p:nvSpPr>
          <p:cNvPr id="23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180000" y="114303"/>
            <a:ext cx="8784000" cy="4391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Folien Überschrift 1 (Arial </a:t>
            </a:r>
            <a:r>
              <a:rPr lang="de-DE" dirty="0" err="1"/>
              <a:t>Bold</a:t>
            </a:r>
            <a:r>
              <a:rPr lang="de-DE" dirty="0"/>
              <a:t>, 36pt)</a:t>
            </a:r>
            <a:br>
              <a:rPr lang="de-DE" dirty="0"/>
            </a:br>
            <a:endParaRPr lang="de-AT" dirty="0"/>
          </a:p>
        </p:txBody>
      </p:sp>
      <p:sp>
        <p:nvSpPr>
          <p:cNvPr id="14" name="Textplatzhalter 4">
            <a:extLst>
              <a:ext uri="{FF2B5EF4-FFF2-40B4-BE49-F238E27FC236}">
                <a16:creationId xmlns:a16="http://schemas.microsoft.com/office/drawing/2014/main" id="{C1810ADF-882B-4FFD-A401-52EBD2C3FFD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9388" y="607500"/>
            <a:ext cx="4320000" cy="40500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 dirty="0"/>
          </a:p>
        </p:txBody>
      </p:sp>
      <p:sp>
        <p:nvSpPr>
          <p:cNvPr id="16" name="Textplatzhalter 4">
            <a:extLst>
              <a:ext uri="{FF2B5EF4-FFF2-40B4-BE49-F238E27FC236}">
                <a16:creationId xmlns:a16="http://schemas.microsoft.com/office/drawing/2014/main" id="{918F80D2-235B-4BC1-AB73-F792A6E717C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44000" y="607500"/>
            <a:ext cx="4320000" cy="40500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 dirty="0"/>
          </a:p>
        </p:txBody>
      </p:sp>
      <p:cxnSp>
        <p:nvCxnSpPr>
          <p:cNvPr id="24" name="Gerader Verbinder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0" y="4729447"/>
            <a:ext cx="9144000" cy="0"/>
          </a:xfrm>
          <a:prstGeom prst="line">
            <a:avLst/>
          </a:prstGeom>
          <a:ln w="12700">
            <a:solidFill>
              <a:srgbClr val="727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555052" y="4767638"/>
            <a:ext cx="0" cy="33363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9913C93F-4C12-40C1-A6ED-7A7506D85F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Präsentationstitel | Name | Datum</a:t>
            </a:r>
            <a:endParaRPr lang="en-GB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2589EC2F-2384-4108-93D2-F2F7A43845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9C057DB4-583E-41A7-BD94-987342018C17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B062C44E-6AED-4204-AA3F-E6AC41528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04300"/>
            <a:ext cx="696991" cy="43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4892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116682" y="114303"/>
            <a:ext cx="8910638" cy="4391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Folien Überschrift 1 (Arial </a:t>
            </a:r>
            <a:r>
              <a:rPr lang="de-DE" dirty="0" err="1"/>
              <a:t>Bold</a:t>
            </a:r>
            <a:r>
              <a:rPr lang="de-DE" dirty="0"/>
              <a:t>, 36pt)</a:t>
            </a:r>
            <a:br>
              <a:rPr lang="de-DE" dirty="0"/>
            </a:br>
            <a:endParaRPr lang="de-AT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116682" y="689434"/>
            <a:ext cx="8910638" cy="40421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Überschrift 2 (Arial </a:t>
            </a:r>
            <a:r>
              <a:rPr lang="de-DE" dirty="0" err="1"/>
              <a:t>Bold</a:t>
            </a:r>
            <a:r>
              <a:rPr lang="de-DE" dirty="0"/>
              <a:t>, 28pt)</a:t>
            </a:r>
          </a:p>
          <a:p>
            <a:pPr lvl="1"/>
            <a:r>
              <a:rPr lang="de-DE" dirty="0"/>
              <a:t>Überschrift 3 (Arial </a:t>
            </a:r>
            <a:r>
              <a:rPr lang="de-DE" dirty="0" err="1"/>
              <a:t>Bold</a:t>
            </a:r>
            <a:r>
              <a:rPr lang="de-DE" dirty="0"/>
              <a:t>, 24pt)</a:t>
            </a:r>
          </a:p>
          <a:p>
            <a:pPr marL="857228" marR="0" lvl="2" indent="-171446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lang="de-DE" dirty="0"/>
              <a:t>Laufschrift </a:t>
            </a:r>
            <a:r>
              <a:rPr lang="de-DE" dirty="0" err="1"/>
              <a:t>mindestgröße</a:t>
            </a:r>
            <a:r>
              <a:rPr lang="de-DE" dirty="0"/>
              <a:t> (Arial, 18pt)</a:t>
            </a:r>
          </a:p>
          <a:p>
            <a:pPr marL="1285843" marR="0" lvl="3" indent="-171446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lang="de-DE" dirty="0"/>
              <a:t>Laufschrift </a:t>
            </a:r>
            <a:r>
              <a:rPr lang="de-DE" dirty="0" err="1"/>
              <a:t>mindestgröße</a:t>
            </a:r>
            <a:r>
              <a:rPr lang="de-DE" dirty="0"/>
              <a:t> (Arial, 16pt)</a:t>
            </a:r>
          </a:p>
          <a:p>
            <a:pPr marL="1543012" marR="0" lvl="4" indent="-171446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lang="de-DE" dirty="0"/>
              <a:t>Fünfte Ebene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4E08F28-5ED9-497F-8AE1-EDBEA8C7CD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93304" y="4812504"/>
            <a:ext cx="5674248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r>
              <a:rPr lang="en-GB"/>
              <a:t>Präsentationstitel | Name | Datum</a:t>
            </a:r>
            <a:endParaRPr lang="en-GB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65B2D6C-EFE7-43C3-BA49-A7C81C2B5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42066" y="4812504"/>
            <a:ext cx="48525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9C057DB4-583E-41A7-BD94-987342018C1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3087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7" r:id="rId4"/>
    <p:sldLayoutId id="2147483669" r:id="rId5"/>
    <p:sldLayoutId id="2147483660" r:id="rId6"/>
    <p:sldLayoutId id="2147483659" r:id="rId7"/>
    <p:sldLayoutId id="2147483662" r:id="rId8"/>
    <p:sldLayoutId id="2147483665" r:id="rId9"/>
    <p:sldLayoutId id="2147483661" r:id="rId10"/>
    <p:sldLayoutId id="2147483666" r:id="rId11"/>
    <p:sldLayoutId id="2147483664" r:id="rId12"/>
    <p:sldLayoutId id="2147483668" r:id="rId13"/>
  </p:sldLayoutIdLst>
  <p:hf hdr="0" dt="0"/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2700" b="1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375"/>
        </a:spcBef>
        <a:spcAft>
          <a:spcPts val="375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37" indent="-171446" algn="l" defTabSz="685783" rtl="0" eaLnBrk="1" latinLnBrk="0" hangingPunct="1">
        <a:lnSpc>
          <a:spcPct val="90000"/>
        </a:lnSpc>
        <a:spcBef>
          <a:spcPts val="375"/>
        </a:spcBef>
        <a:spcAft>
          <a:spcPts val="375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228" marR="0" indent="-171446" algn="l" defTabSz="685783" rtl="0" eaLnBrk="1" fontAlgn="auto" latinLnBrk="0" hangingPunct="1">
        <a:lnSpc>
          <a:spcPct val="90000"/>
        </a:lnSpc>
        <a:spcBef>
          <a:spcPts val="375"/>
        </a:spcBef>
        <a:spcAft>
          <a:spcPts val="375"/>
        </a:spcAft>
        <a:buClrTx/>
        <a:buSzTx/>
        <a:buFont typeface="Symbol" panose="05050102010706020507" pitchFamily="18" charset="2"/>
        <a:buChar char="-"/>
        <a:tabLst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85843" marR="0" indent="-171446" algn="l" defTabSz="685783" rtl="0" eaLnBrk="1" fontAlgn="auto" latinLnBrk="0" hangingPunct="1">
        <a:lnSpc>
          <a:spcPct val="90000"/>
        </a:lnSpc>
        <a:spcBef>
          <a:spcPts val="375"/>
        </a:spcBef>
        <a:spcAft>
          <a:spcPts val="0"/>
        </a:spcAft>
        <a:buClrTx/>
        <a:buSzTx/>
        <a:buFont typeface="Symbol" panose="05050102010706020507" pitchFamily="18" charset="2"/>
        <a:buChar char="-"/>
        <a:tabLst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4" userDrawn="1">
          <p15:clr>
            <a:srgbClr val="F26B43"/>
          </p15:clr>
        </p15:guide>
        <p15:guide id="2" orient="horz" pos="72" userDrawn="1">
          <p15:clr>
            <a:srgbClr val="F26B43"/>
          </p15:clr>
        </p15:guide>
        <p15:guide id="3" orient="horz" pos="2981" userDrawn="1">
          <p15:clr>
            <a:srgbClr val="F26B43"/>
          </p15:clr>
        </p15:guide>
        <p15:guide id="4" pos="5687" userDrawn="1">
          <p15:clr>
            <a:srgbClr val="F26B43"/>
          </p15:clr>
        </p15:guide>
        <p15:guide id="5" orient="horz" pos="1620" userDrawn="1">
          <p15:clr>
            <a:srgbClr val="F26B43"/>
          </p15:clr>
        </p15:guide>
        <p15:guide id="6" pos="288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hyperlink" Target="https://docs.arc42.org/section-2/" TargetMode="External"/><Relationship Id="rId3" Type="http://schemas.openxmlformats.org/officeDocument/2006/relationships/hyperlink" Target="https://biking.michael-simons.eu/docs/index.html#section-architecture-constraints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hyperlink" Target="https://docs.arc42.org/section-3/" TargetMode="External"/><Relationship Id="rId3" Type="http://schemas.openxmlformats.org/officeDocument/2006/relationships/hyperlink" Target="https://biking.michael-simons.eu/docs/index.html#section-system-scope-and-context" TargetMode="External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0.png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B1EE7A55-1D41-490E-91EF-6B1065D28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9084" y="3582896"/>
            <a:ext cx="5216215" cy="531903"/>
          </a:xfrm>
        </p:spPr>
        <p:txBody>
          <a:bodyPr>
            <a:normAutofit/>
          </a:bodyPr>
          <a:lstStyle/>
          <a:p>
            <a:r>
              <a:rPr lang="en-US" dirty="0"/>
              <a:t>Architecture Constraints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5441A083-FC77-4905-9200-20D18E8DDF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59084" y="4182295"/>
            <a:ext cx="5216215" cy="35956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Software Architecture</a:t>
            </a:r>
          </a:p>
        </p:txBody>
      </p:sp>
    </p:spTree>
    <p:extLst>
      <p:ext uri="{BB962C8B-B14F-4D97-AF65-F5344CB8AC3E}">
        <p14:creationId xmlns:p14="http://schemas.microsoft.com/office/powerpoint/2010/main" val="27346877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6A4FD04E-F4E5-4C20-8824-ED6C28B10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Architecture Constraints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FD62C21-1674-431C-9889-D591E8EF76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793304" y="4812504"/>
            <a:ext cx="5674248" cy="273844"/>
          </a:xfrm>
        </p:spPr>
        <p:txBody>
          <a:bodyPr/>
          <a:lstStyle/>
          <a:p>
            <a:r>
              <a:rPr lang="en-GB" dirty="0"/>
              <a:t>Software Architecture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6F73CB9-9AFC-44F1-9B35-8462F4B4D1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8542066" y="4812504"/>
            <a:ext cx="485255" cy="273844"/>
          </a:xfrm>
        </p:spPr>
        <p:txBody>
          <a:bodyPr/>
          <a:lstStyle/>
          <a:p>
            <a:fld id="{9C057DB4-583E-41A7-BD94-987342018C17}" type="slidenum">
              <a:rPr lang="en-GB" smtClean="0"/>
              <a:pPr/>
              <a:t>2</a:t>
            </a:fld>
            <a:endParaRPr lang="en-GB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698CB0C-555E-1B70-CFF7-D2F8BC01D8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6763436"/>
              </p:ext>
            </p:extLst>
          </p:nvPr>
        </p:nvGraphicFramePr>
        <p:xfrm>
          <a:off x="179999" y="607500"/>
          <a:ext cx="8775319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8251">
                  <a:extLst>
                    <a:ext uri="{9D8B030D-6E8A-4147-A177-3AD203B41FA5}">
                      <a16:colId xmlns:a16="http://schemas.microsoft.com/office/drawing/2014/main" val="878654425"/>
                    </a:ext>
                  </a:extLst>
                </a:gridCol>
                <a:gridCol w="6447068">
                  <a:extLst>
                    <a:ext uri="{9D8B030D-6E8A-4147-A177-3AD203B41FA5}">
                      <a16:colId xmlns:a16="http://schemas.microsoft.com/office/drawing/2014/main" val="28530359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Constraints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Background and/or motivation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27238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1000"/>
                        <a:t>Budget: max. 150.000 €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Als Start-Up stehen nur begrenzte finanzielle Mittel zur Verfügung. Das Budget muss Entwicklung, Cloud-Infrastruktur, Pixlr-Lizenzkosten und Marketing abdecken. Kosteneffiziente Technologien und Open-Source-Lösungen werden bevorzugt.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97528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1000"/>
                        <a:t>Aufwand: 300 Personentage</a:t>
                      </a:r>
                    </a:p>
                    <a:p>
                      <a:r>
                        <a:rPr sz="1000"/>
                        <a:t>(5 Entwickler × 12 Wochen × 5 Tage)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Kleines Start-Up-Team mit begrenzter Kapazität. MVP muss innerhalb von 3 Monaten (ca. 6 Team-Sprints à 2 Wochen) fertiggestellt werden, um frühzeitig Nutzerfeedback zu erhalten und Investoren zu überzeugen.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35778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1000"/>
                        <a:t>Plattform: iOS und Android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Laut BRD muss die App auf beiden mobilen Plattformen verfügbar sein. Dies erfordert eine Cross-Platform-Lösung (z.B. React Native), um den Entwicklungsaufwand im Rahmen des Budgets zu halten.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64357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1000"/>
                        <a:t>DSGVO-Konformität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Die App verarbeitet personenbezogene Daten (Profile, Bilder, Zahlungsdaten) und ist global zugänglich. Europäische Datenschutzgesetze müssen von Beginn an eingehalten werden – Privacy by Design ist Pflicht, nicht optional.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15505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1000"/>
                        <a:t>Pixlr als Drittanbieter-Integration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Laut BRD ist Pixlr als Bildbearbeitungsplattform vorgegeben. Die Architektur muss die Pixlr-API integrieren und gleichzeitig über ein Adapter-Pattern eine mögliche Ablösung ermöglichen.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1973225"/>
                  </a:ext>
                </a:extLst>
              </a:tr>
            </a:tbl>
          </a:graphicData>
        </a:graphic>
      </p:graphicFrame>
      <p:sp>
        <p:nvSpPr>
          <p:cNvPr id="3" name="Textplatzhalter 6">
            <a:extLst>
              <a:ext uri="{FF2B5EF4-FFF2-40B4-BE49-F238E27FC236}">
                <a16:creationId xmlns:a16="http://schemas.microsoft.com/office/drawing/2014/main" id="{5C01C186-EB2E-CCD4-8FDC-9E049EA25FB0}"/>
              </a:ext>
            </a:extLst>
          </p:cNvPr>
          <p:cNvSpPr txBox="1">
            <a:spLocks/>
          </p:cNvSpPr>
          <p:nvPr/>
        </p:nvSpPr>
        <p:spPr>
          <a:xfrm>
            <a:off x="180001" y="2886584"/>
            <a:ext cx="8775319" cy="17709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4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3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28" marR="0" indent="-171446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375"/>
              </a:spcAft>
              <a:buClrTx/>
              <a:buSzTx/>
              <a:buFont typeface="Symbol" panose="05050102010706020507" pitchFamily="18" charset="2"/>
              <a:buChar char="-"/>
              <a:tabLst/>
              <a:defRPr sz="135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85843" marR="0" indent="-171446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12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03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200" i="1" dirty="0">
                <a:solidFill>
                  <a:schemeClr val="tx2"/>
                </a:solidFill>
              </a:rPr>
              <a:t>Architects should know exactly where they are free in their design decisions and where they must adhere to constraints. Constraints must always be dealt with; they may be negotiable, though.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dirty="0">
                <a:solidFill>
                  <a:schemeClr val="tx2"/>
                </a:solidFill>
              </a:rPr>
              <a:t>Define five constraints that constrains software architects in their freedom of design and implementation decisions or decision about the development process.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dirty="0">
                <a:solidFill>
                  <a:schemeClr val="tx2"/>
                </a:solidFill>
              </a:rPr>
              <a:t>Help: </a:t>
            </a:r>
            <a:r>
              <a:rPr lang="en-US" sz="1200" dirty="0">
                <a:solidFill>
                  <a:schemeClr val="tx2"/>
                </a:solidFill>
                <a:hlinkClick r:id="rId2"/>
              </a:rPr>
              <a:t>https://docs.arc42.org/section-2/</a:t>
            </a:r>
            <a:r>
              <a:rPr lang="en-US" sz="1200" dirty="0">
                <a:solidFill>
                  <a:schemeClr val="tx2"/>
                </a:solidFill>
              </a:rPr>
              <a:t> &amp; </a:t>
            </a:r>
            <a:r>
              <a:rPr lang="en-US" sz="1200" dirty="0">
                <a:solidFill>
                  <a:schemeClr val="tx2"/>
                </a:solidFill>
                <a:hlinkClick r:id="rId3"/>
              </a:rPr>
              <a:t>https://biking.michael-simons.eu/docs/index.html#section-architecture-constraints</a:t>
            </a:r>
            <a:r>
              <a:rPr lang="en-US" sz="1200" dirty="0">
                <a:solidFill>
                  <a:schemeClr val="tx2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815098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6A4FD04E-F4E5-4C20-8824-ED6C28B10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Business Context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FD62C21-1674-431C-9889-D591E8EF76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793304" y="4812504"/>
            <a:ext cx="5674248" cy="273844"/>
          </a:xfrm>
        </p:spPr>
        <p:txBody>
          <a:bodyPr/>
          <a:lstStyle/>
          <a:p>
            <a:r>
              <a:rPr lang="en-GB" dirty="0"/>
              <a:t>Software Architecture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6F73CB9-9AFC-44F1-9B35-8462F4B4D1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8542066" y="4812504"/>
            <a:ext cx="485255" cy="273844"/>
          </a:xfrm>
        </p:spPr>
        <p:txBody>
          <a:bodyPr/>
          <a:lstStyle/>
          <a:p>
            <a:fld id="{9C057DB4-583E-41A7-BD94-987342018C17}" type="slidenum">
              <a:rPr lang="en-GB" smtClean="0"/>
              <a:pPr/>
              <a:t>3</a:t>
            </a:fld>
            <a:endParaRPr lang="en-GB" dirty="0"/>
          </a:p>
        </p:txBody>
      </p:sp>
      <p:sp>
        <p:nvSpPr>
          <p:cNvPr id="3" name="Textplatzhalter 6">
            <a:extLst>
              <a:ext uri="{FF2B5EF4-FFF2-40B4-BE49-F238E27FC236}">
                <a16:creationId xmlns:a16="http://schemas.microsoft.com/office/drawing/2014/main" id="{913221D5-1F45-6200-6B3C-590D58EC07DA}"/>
              </a:ext>
            </a:extLst>
          </p:cNvPr>
          <p:cNvSpPr txBox="1">
            <a:spLocks/>
          </p:cNvSpPr>
          <p:nvPr/>
        </p:nvSpPr>
        <p:spPr>
          <a:xfrm>
            <a:off x="180001" y="3524250"/>
            <a:ext cx="8775319" cy="1133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4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3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28" marR="0" indent="-171446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375"/>
              </a:spcAft>
              <a:buClrTx/>
              <a:buSzTx/>
              <a:buFont typeface="Symbol" panose="05050102010706020507" pitchFamily="18" charset="2"/>
              <a:buChar char="-"/>
              <a:tabLst/>
              <a:defRPr sz="135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85843" marR="0" indent="-171446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12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03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200" i="1" dirty="0">
                <a:solidFill>
                  <a:schemeClr val="tx2"/>
                </a:solidFill>
              </a:rPr>
              <a:t>The domain interfaces and technical interfaces to communication partners are among your system’s most critical aspects. Make sure that you completely understand them.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dirty="0">
                <a:solidFill>
                  <a:schemeClr val="tx2"/>
                </a:solidFill>
              </a:rPr>
              <a:t>Make a business context diagram so all stakeholders understand which data are exchanged with the environment of the system.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dirty="0">
                <a:solidFill>
                  <a:schemeClr val="tx2"/>
                </a:solidFill>
              </a:rPr>
              <a:t>Help: </a:t>
            </a:r>
            <a:r>
              <a:rPr lang="en-US" sz="1200" dirty="0">
                <a:solidFill>
                  <a:schemeClr val="tx2"/>
                </a:solidFill>
                <a:hlinkClick r:id="rId2"/>
              </a:rPr>
              <a:t>https://docs.arc42.org/section-3/</a:t>
            </a:r>
            <a:r>
              <a:rPr lang="en-US" sz="1200" dirty="0">
                <a:solidFill>
                  <a:schemeClr val="tx2"/>
                </a:solidFill>
              </a:rPr>
              <a:t> &amp; </a:t>
            </a:r>
            <a:r>
              <a:rPr lang="en-US" sz="1200" dirty="0">
                <a:solidFill>
                  <a:schemeClr val="tx2"/>
                </a:solidFill>
                <a:hlinkClick r:id="rId3"/>
              </a:rPr>
              <a:t>https://biking.michael-simons.eu/docs/index.html#section-system-scope-and-context</a:t>
            </a:r>
            <a:r>
              <a:rPr lang="en-US" sz="1200" dirty="0">
                <a:solidFill>
                  <a:schemeClr val="tx2"/>
                </a:solidFill>
              </a:rPr>
              <a:t> </a:t>
            </a:r>
          </a:p>
        </p:txBody>
      </p:sp>
      <p:pic>
        <p:nvPicPr>
          <p:cNvPr id="7" name="Picture 6" descr="business_context_v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45396" y="580230"/>
            <a:ext cx="4044528" cy="2917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873196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pic>
        <p:nvPicPr>
          <p:cNvPr id="4" name="Picture 3" descr="technical_context_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68630"/>
            <a:ext cx="8229600" cy="47548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Custom 2">
      <a:dk1>
        <a:sysClr val="windowText" lastClr="000000"/>
      </a:dk1>
      <a:lt1>
        <a:sysClr val="window" lastClr="FFFFFF"/>
      </a:lt1>
      <a:dk2>
        <a:srgbClr val="72777A"/>
      </a:dk2>
      <a:lt2>
        <a:srgbClr val="FFFFFF"/>
      </a:lt2>
      <a:accent1>
        <a:srgbClr val="72777A"/>
      </a:accent1>
      <a:accent2>
        <a:srgbClr val="AAADAF"/>
      </a:accent2>
      <a:accent3>
        <a:srgbClr val="8BB31D"/>
      </a:accent3>
      <a:accent4>
        <a:srgbClr val="B9D177"/>
      </a:accent4>
      <a:accent5>
        <a:srgbClr val="00649C"/>
      </a:accent5>
      <a:accent6>
        <a:srgbClr val="66A2C4"/>
      </a:accent6>
      <a:hlink>
        <a:srgbClr val="00649C"/>
      </a:hlink>
      <a:folHlink>
        <a:srgbClr val="323F4F"/>
      </a:folHlink>
    </a:clrScheme>
    <a:fontScheme name="Benutzerdefiniert 1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t">
        <a:normAutofit/>
      </a:bodyPr>
      <a:lstStyle>
        <a:defPPr algn="l">
          <a:defRPr sz="28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3" id="{15EC8A32-EFA0-4B0B-AC0F-1D8CF766F1E4}" vid="{CE16643F-63A4-48FC-8B61-AF37F67178D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FHTW_PowerPoint</Template>
  <TotalTime>0</TotalTime>
  <Words>177</Words>
  <Application>Microsoft Office PowerPoint</Application>
  <PresentationFormat>On-screen Show (16:9)</PresentationFormat>
  <Paragraphs>16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Symbol</vt:lpstr>
      <vt:lpstr>Office</vt:lpstr>
      <vt:lpstr>Architecture Constraints</vt:lpstr>
      <vt:lpstr>Architecture Constraints</vt:lpstr>
      <vt:lpstr>Business Context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Titel</dc:title>
  <dc:creator>Marvin Kosmider</dc:creator>
  <cp:lastModifiedBy>Marvin Kosmider</cp:lastModifiedBy>
  <cp:revision>4</cp:revision>
  <dcterms:created xsi:type="dcterms:W3CDTF">2022-06-08T12:45:54Z</dcterms:created>
  <dcterms:modified xsi:type="dcterms:W3CDTF">2023-06-09T08:26:48Z</dcterms:modified>
</cp:coreProperties>
</file>