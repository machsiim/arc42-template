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5" name="PlaceHolder 2"/>
          <p:cNvSpPr>
            <a:spLocks noGrp="1"/>
          </p:cNvSpPr>
          <p:nvPr>
            <p:ph type="subTitle"/>
          </p:nvPr>
        </p:nvSpPr>
        <p:spPr>
          <a:xfrm>
            <a:off x="180000" y="607680"/>
            <a:ext cx="8775000" cy="4049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7" name="PlaceHolder 2"/>
          <p:cNvSpPr>
            <a:spLocks noGrp="1"/>
          </p:cNvSpPr>
          <p:nvPr>
            <p:ph/>
          </p:nvPr>
        </p:nvSpPr>
        <p:spPr>
          <a:xfrm>
            <a:off x="180000" y="607680"/>
            <a:ext cx="877500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9" name="PlaceHolder 2"/>
          <p:cNvSpPr>
            <a:spLocks noGrp="1"/>
          </p:cNvSpPr>
          <p:nvPr>
            <p:ph/>
          </p:nvPr>
        </p:nvSpPr>
        <p:spPr>
          <a:xfrm>
            <a:off x="1800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10" name="PlaceHolder 3"/>
          <p:cNvSpPr>
            <a:spLocks noGrp="1"/>
          </p:cNvSpPr>
          <p:nvPr>
            <p:ph/>
          </p:nvPr>
        </p:nvSpPr>
        <p:spPr>
          <a:xfrm>
            <a:off x="46764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180000" y="114480"/>
            <a:ext cx="8775000" cy="20354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14"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15" name="PlaceHolder 3"/>
          <p:cNvSpPr>
            <a:spLocks noGrp="1"/>
          </p:cNvSpPr>
          <p:nvPr>
            <p:ph/>
          </p:nvPr>
        </p:nvSpPr>
        <p:spPr>
          <a:xfrm>
            <a:off x="46764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16" name="PlaceHolder 4"/>
          <p:cNvSpPr>
            <a:spLocks noGrp="1"/>
          </p:cNvSpPr>
          <p:nvPr>
            <p:ph/>
          </p:nvPr>
        </p:nvSpPr>
        <p:spPr>
          <a:xfrm>
            <a:off x="1800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18" name="PlaceHolder 2"/>
          <p:cNvSpPr>
            <a:spLocks noGrp="1"/>
          </p:cNvSpPr>
          <p:nvPr>
            <p:ph/>
          </p:nvPr>
        </p:nvSpPr>
        <p:spPr>
          <a:xfrm>
            <a:off x="1800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19"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20" name="PlaceHolder 4"/>
          <p:cNvSpPr>
            <a:spLocks noGrp="1"/>
          </p:cNvSpPr>
          <p:nvPr>
            <p:ph/>
          </p:nvPr>
        </p:nvSpPr>
        <p:spPr>
          <a:xfrm>
            <a:off x="46764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22"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23"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24" name="PlaceHolder 4"/>
          <p:cNvSpPr>
            <a:spLocks noGrp="1"/>
          </p:cNvSpPr>
          <p:nvPr>
            <p:ph/>
          </p:nvPr>
        </p:nvSpPr>
        <p:spPr>
          <a:xfrm>
            <a:off x="180000" y="272304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26" name="PlaceHolder 2"/>
          <p:cNvSpPr>
            <a:spLocks noGrp="1"/>
          </p:cNvSpPr>
          <p:nvPr>
            <p:ph/>
          </p:nvPr>
        </p:nvSpPr>
        <p:spPr>
          <a:xfrm>
            <a:off x="180000" y="60768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27" name="PlaceHolder 3"/>
          <p:cNvSpPr>
            <a:spLocks noGrp="1"/>
          </p:cNvSpPr>
          <p:nvPr>
            <p:ph/>
          </p:nvPr>
        </p:nvSpPr>
        <p:spPr>
          <a:xfrm>
            <a:off x="180000" y="272304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29"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0"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1" name="PlaceHolder 4"/>
          <p:cNvSpPr>
            <a:spLocks noGrp="1"/>
          </p:cNvSpPr>
          <p:nvPr>
            <p:ph/>
          </p:nvPr>
        </p:nvSpPr>
        <p:spPr>
          <a:xfrm>
            <a:off x="1800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2" name="PlaceHolder 5"/>
          <p:cNvSpPr>
            <a:spLocks noGrp="1"/>
          </p:cNvSpPr>
          <p:nvPr>
            <p:ph/>
          </p:nvPr>
        </p:nvSpPr>
        <p:spPr>
          <a:xfrm>
            <a:off x="46764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34" name="PlaceHolder 2"/>
          <p:cNvSpPr>
            <a:spLocks noGrp="1"/>
          </p:cNvSpPr>
          <p:nvPr>
            <p:ph/>
          </p:nvPr>
        </p:nvSpPr>
        <p:spPr>
          <a:xfrm>
            <a:off x="18000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5" name="PlaceHolder 3"/>
          <p:cNvSpPr>
            <a:spLocks noGrp="1"/>
          </p:cNvSpPr>
          <p:nvPr>
            <p:ph/>
          </p:nvPr>
        </p:nvSpPr>
        <p:spPr>
          <a:xfrm>
            <a:off x="314676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6" name="PlaceHolder 4"/>
          <p:cNvSpPr>
            <a:spLocks noGrp="1"/>
          </p:cNvSpPr>
          <p:nvPr>
            <p:ph/>
          </p:nvPr>
        </p:nvSpPr>
        <p:spPr>
          <a:xfrm>
            <a:off x="611388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7" name="PlaceHolder 5"/>
          <p:cNvSpPr>
            <a:spLocks noGrp="1"/>
          </p:cNvSpPr>
          <p:nvPr>
            <p:ph/>
          </p:nvPr>
        </p:nvSpPr>
        <p:spPr>
          <a:xfrm>
            <a:off x="18000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8" name="PlaceHolder 6"/>
          <p:cNvSpPr>
            <a:spLocks noGrp="1"/>
          </p:cNvSpPr>
          <p:nvPr>
            <p:ph/>
          </p:nvPr>
        </p:nvSpPr>
        <p:spPr>
          <a:xfrm>
            <a:off x="314676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39" name="PlaceHolder 7"/>
          <p:cNvSpPr>
            <a:spLocks noGrp="1"/>
          </p:cNvSpPr>
          <p:nvPr>
            <p:ph/>
          </p:nvPr>
        </p:nvSpPr>
        <p:spPr>
          <a:xfrm>
            <a:off x="611388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32B2B07-40E4-4355-9483-D25802765C07}"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48" name="PlaceHolder 2"/>
          <p:cNvSpPr>
            <a:spLocks noGrp="1"/>
          </p:cNvSpPr>
          <p:nvPr>
            <p:ph type="subTitle"/>
          </p:nvPr>
        </p:nvSpPr>
        <p:spPr>
          <a:xfrm>
            <a:off x="180000" y="607680"/>
            <a:ext cx="8775000" cy="40496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F95D8F4-EC56-4109-9DF6-82A6EA8A570C}"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50" name="PlaceHolder 2"/>
          <p:cNvSpPr>
            <a:spLocks noGrp="1"/>
          </p:cNvSpPr>
          <p:nvPr>
            <p:ph/>
          </p:nvPr>
        </p:nvSpPr>
        <p:spPr>
          <a:xfrm>
            <a:off x="180000" y="607680"/>
            <a:ext cx="877500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6B32CD8-9219-4165-A56A-EEFFF962A25E}"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52" name="PlaceHolder 2"/>
          <p:cNvSpPr>
            <a:spLocks noGrp="1"/>
          </p:cNvSpPr>
          <p:nvPr>
            <p:ph/>
          </p:nvPr>
        </p:nvSpPr>
        <p:spPr>
          <a:xfrm>
            <a:off x="1800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53" name="PlaceHolder 3"/>
          <p:cNvSpPr>
            <a:spLocks noGrp="1"/>
          </p:cNvSpPr>
          <p:nvPr>
            <p:ph/>
          </p:nvPr>
        </p:nvSpPr>
        <p:spPr>
          <a:xfrm>
            <a:off x="46764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A19E1A4-276E-42AE-BEF4-7938E1A1ABA9}"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7FDD50D-C869-4EA9-AC44-7BB67809B57C}"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180000" y="114480"/>
            <a:ext cx="8775000" cy="20354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261B28E-560E-4628-B075-23B0E62F46A6}"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57"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58" name="PlaceHolder 3"/>
          <p:cNvSpPr>
            <a:spLocks noGrp="1"/>
          </p:cNvSpPr>
          <p:nvPr>
            <p:ph/>
          </p:nvPr>
        </p:nvSpPr>
        <p:spPr>
          <a:xfrm>
            <a:off x="46764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59" name="PlaceHolder 4"/>
          <p:cNvSpPr>
            <a:spLocks noGrp="1"/>
          </p:cNvSpPr>
          <p:nvPr>
            <p:ph/>
          </p:nvPr>
        </p:nvSpPr>
        <p:spPr>
          <a:xfrm>
            <a:off x="1800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F215C96-5EC1-4A40-B7A6-3E6C43B8B1E8}"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61" name="PlaceHolder 2"/>
          <p:cNvSpPr>
            <a:spLocks noGrp="1"/>
          </p:cNvSpPr>
          <p:nvPr>
            <p:ph/>
          </p:nvPr>
        </p:nvSpPr>
        <p:spPr>
          <a:xfrm>
            <a:off x="180000" y="607680"/>
            <a:ext cx="4281840" cy="404964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2"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3" name="PlaceHolder 4"/>
          <p:cNvSpPr>
            <a:spLocks noGrp="1"/>
          </p:cNvSpPr>
          <p:nvPr>
            <p:ph/>
          </p:nvPr>
        </p:nvSpPr>
        <p:spPr>
          <a:xfrm>
            <a:off x="46764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69EF534-78AD-4B13-A892-AD4C469D47E8}"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65"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6"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7" name="PlaceHolder 4"/>
          <p:cNvSpPr>
            <a:spLocks noGrp="1"/>
          </p:cNvSpPr>
          <p:nvPr>
            <p:ph/>
          </p:nvPr>
        </p:nvSpPr>
        <p:spPr>
          <a:xfrm>
            <a:off x="180000" y="272304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3F748E7-20F0-4490-A3F0-E45BBFB4236D}"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69" name="PlaceHolder 2"/>
          <p:cNvSpPr>
            <a:spLocks noGrp="1"/>
          </p:cNvSpPr>
          <p:nvPr>
            <p:ph/>
          </p:nvPr>
        </p:nvSpPr>
        <p:spPr>
          <a:xfrm>
            <a:off x="180000" y="60768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0" name="PlaceHolder 3"/>
          <p:cNvSpPr>
            <a:spLocks noGrp="1"/>
          </p:cNvSpPr>
          <p:nvPr>
            <p:ph/>
          </p:nvPr>
        </p:nvSpPr>
        <p:spPr>
          <a:xfrm>
            <a:off x="180000" y="2723040"/>
            <a:ext cx="877500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A63D5A1D-D599-4D49-A860-F0DF2DFA2065}"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72" name="PlaceHolder 2"/>
          <p:cNvSpPr>
            <a:spLocks noGrp="1"/>
          </p:cNvSpPr>
          <p:nvPr>
            <p:ph/>
          </p:nvPr>
        </p:nvSpPr>
        <p:spPr>
          <a:xfrm>
            <a:off x="1800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3" name="PlaceHolder 3"/>
          <p:cNvSpPr>
            <a:spLocks noGrp="1"/>
          </p:cNvSpPr>
          <p:nvPr>
            <p:ph/>
          </p:nvPr>
        </p:nvSpPr>
        <p:spPr>
          <a:xfrm>
            <a:off x="4676400" y="60768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4" name="PlaceHolder 4"/>
          <p:cNvSpPr>
            <a:spLocks noGrp="1"/>
          </p:cNvSpPr>
          <p:nvPr>
            <p:ph/>
          </p:nvPr>
        </p:nvSpPr>
        <p:spPr>
          <a:xfrm>
            <a:off x="1800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5" name="PlaceHolder 5"/>
          <p:cNvSpPr>
            <a:spLocks noGrp="1"/>
          </p:cNvSpPr>
          <p:nvPr>
            <p:ph/>
          </p:nvPr>
        </p:nvSpPr>
        <p:spPr>
          <a:xfrm>
            <a:off x="4676400" y="2723040"/>
            <a:ext cx="428184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D789ABBE-1ABE-4802-8061-79E8056569F3}"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80000" y="114480"/>
            <a:ext cx="8775000" cy="438840"/>
          </a:xfrm>
          <a:prstGeom prst="rect">
            <a:avLst/>
          </a:prstGeom>
          <a:noFill/>
          <a:ln w="0">
            <a:noFill/>
          </a:ln>
        </p:spPr>
        <p:txBody>
          <a:bodyPr lIns="0" rIns="0" tIns="0" bIns="0" anchor="ctr">
            <a:noAutofit/>
          </a:bodyPr>
          <a:p>
            <a:endParaRPr b="0" lang="de-DE" sz="1800" spc="-1" strike="noStrike">
              <a:solidFill>
                <a:srgbClr val="000000"/>
              </a:solidFill>
              <a:latin typeface="Arial"/>
            </a:endParaRPr>
          </a:p>
        </p:txBody>
      </p:sp>
      <p:sp>
        <p:nvSpPr>
          <p:cNvPr id="77" name="PlaceHolder 2"/>
          <p:cNvSpPr>
            <a:spLocks noGrp="1"/>
          </p:cNvSpPr>
          <p:nvPr>
            <p:ph/>
          </p:nvPr>
        </p:nvSpPr>
        <p:spPr>
          <a:xfrm>
            <a:off x="18000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8" name="PlaceHolder 3"/>
          <p:cNvSpPr>
            <a:spLocks noGrp="1"/>
          </p:cNvSpPr>
          <p:nvPr>
            <p:ph/>
          </p:nvPr>
        </p:nvSpPr>
        <p:spPr>
          <a:xfrm>
            <a:off x="314676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79" name="PlaceHolder 4"/>
          <p:cNvSpPr>
            <a:spLocks noGrp="1"/>
          </p:cNvSpPr>
          <p:nvPr>
            <p:ph/>
          </p:nvPr>
        </p:nvSpPr>
        <p:spPr>
          <a:xfrm>
            <a:off x="6113880" y="60768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80" name="PlaceHolder 5"/>
          <p:cNvSpPr>
            <a:spLocks noGrp="1"/>
          </p:cNvSpPr>
          <p:nvPr>
            <p:ph/>
          </p:nvPr>
        </p:nvSpPr>
        <p:spPr>
          <a:xfrm>
            <a:off x="18000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81" name="PlaceHolder 6"/>
          <p:cNvSpPr>
            <a:spLocks noGrp="1"/>
          </p:cNvSpPr>
          <p:nvPr>
            <p:ph/>
          </p:nvPr>
        </p:nvSpPr>
        <p:spPr>
          <a:xfrm>
            <a:off x="314676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82" name="PlaceHolder 7"/>
          <p:cNvSpPr>
            <a:spLocks noGrp="1"/>
          </p:cNvSpPr>
          <p:nvPr>
            <p:ph/>
          </p:nvPr>
        </p:nvSpPr>
        <p:spPr>
          <a:xfrm>
            <a:off x="6113880" y="2723040"/>
            <a:ext cx="2825280" cy="1931400"/>
          </a:xfrm>
          <a:prstGeom prst="rect">
            <a:avLst/>
          </a:prstGeom>
          <a:noFill/>
          <a:ln w="0">
            <a:noFill/>
          </a:ln>
        </p:spPr>
        <p:txBody>
          <a:bodyPr lIns="0" rIns="0" tIns="0" bIns="0" anchor="t">
            <a:normAutofit/>
          </a:bodyPr>
          <a:p>
            <a:pPr>
              <a:lnSpc>
                <a:spcPct val="90000"/>
              </a:lnSpc>
              <a:spcBef>
                <a:spcPts val="1417"/>
              </a:spcBef>
              <a:buNone/>
            </a:pPr>
            <a:endParaRPr b="0" lang="de-DE" sz="21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DBE1A84B-7FA5-47B3-A38D-F6E8C6B1BE50}"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058920" y="3582720"/>
            <a:ext cx="5215680" cy="531720"/>
          </a:xfrm>
          <a:prstGeom prst="rect">
            <a:avLst/>
          </a:prstGeom>
          <a:noFill/>
          <a:ln w="0">
            <a:noFill/>
          </a:ln>
        </p:spPr>
        <p:txBody>
          <a:bodyPr anchor="ctr">
            <a:normAutofit/>
          </a:bodyPr>
          <a:p>
            <a:pPr algn="r">
              <a:lnSpc>
                <a:spcPct val="90000"/>
              </a:lnSpc>
              <a:buNone/>
            </a:pPr>
            <a:r>
              <a:rPr b="1" lang="de-DE" sz="2700" spc="-1" strike="noStrike">
                <a:solidFill>
                  <a:srgbClr val="72777a"/>
                </a:solidFill>
                <a:latin typeface="Arial"/>
              </a:rPr>
              <a:t>Titel</a:t>
            </a:r>
            <a:endParaRPr b="0" lang="de-DE" sz="2700" spc="-1" strike="noStrike">
              <a:solidFill>
                <a:srgbClr val="000000"/>
              </a:solidFill>
              <a:latin typeface="Arial"/>
            </a:endParaRPr>
          </a:p>
        </p:txBody>
      </p:sp>
      <p:sp>
        <p:nvSpPr>
          <p:cNvPr id="1" name="PlaceHolder 2"/>
          <p:cNvSpPr>
            <a:spLocks noGrp="1"/>
          </p:cNvSpPr>
          <p:nvPr>
            <p:ph type="body"/>
          </p:nvPr>
        </p:nvSpPr>
        <p:spPr>
          <a:xfrm>
            <a:off x="3058920" y="4182120"/>
            <a:ext cx="5215680" cy="359280"/>
          </a:xfrm>
          <a:prstGeom prst="rect">
            <a:avLst/>
          </a:prstGeom>
          <a:noFill/>
          <a:ln w="0">
            <a:noFill/>
          </a:ln>
        </p:spPr>
        <p:txBody>
          <a:bodyPr anchor="t">
            <a:normAutofit fontScale="93000"/>
          </a:bodyPr>
          <a:p>
            <a:pPr algn="r">
              <a:lnSpc>
                <a:spcPct val="90000"/>
              </a:lnSpc>
              <a:spcBef>
                <a:spcPts val="374"/>
              </a:spcBef>
              <a:spcAft>
                <a:spcPts val="374"/>
              </a:spcAft>
              <a:buNone/>
              <a:tabLst>
                <a:tab algn="l" pos="0"/>
              </a:tabLst>
            </a:pPr>
            <a:r>
              <a:rPr b="0" lang="en-US" sz="2100" spc="-1" strike="noStrike">
                <a:solidFill>
                  <a:srgbClr val="72777a"/>
                </a:solidFill>
                <a:latin typeface="Arial"/>
              </a:rPr>
              <a:t>Untertitel / Autor</a:t>
            </a:r>
            <a:endParaRPr b="0" lang="de-DE" sz="2100" spc="-1" strike="noStrike">
              <a:solidFill>
                <a:srgbClr val="000000"/>
              </a:solidFill>
              <a:latin typeface="Arial"/>
            </a:endParaRPr>
          </a:p>
        </p:txBody>
      </p:sp>
      <p:pic>
        <p:nvPicPr>
          <p:cNvPr id="2" name="Grafik 3" descr=""/>
          <p:cNvPicPr/>
          <p:nvPr/>
        </p:nvPicPr>
        <p:blipFill>
          <a:blip r:embed="rId2"/>
          <a:stretch/>
        </p:blipFill>
        <p:spPr>
          <a:xfrm>
            <a:off x="868680" y="-308520"/>
            <a:ext cx="7406280" cy="4165920"/>
          </a:xfrm>
          <a:prstGeom prst="rect">
            <a:avLst/>
          </a:prstGeom>
          <a:ln w="0">
            <a:noFill/>
          </a:ln>
        </p:spPr>
      </p:pic>
      <p:pic>
        <p:nvPicPr>
          <p:cNvPr id="3" name="Grafik 7" descr="FH Technikum Wien - University of Applied Sciences"/>
          <p:cNvPicPr/>
          <p:nvPr/>
        </p:nvPicPr>
        <p:blipFill>
          <a:blip r:embed="rId3"/>
          <a:stretch/>
        </p:blipFill>
        <p:spPr>
          <a:xfrm>
            <a:off x="612720" y="3214440"/>
            <a:ext cx="2621880" cy="1652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80000" y="114480"/>
            <a:ext cx="8775000" cy="438840"/>
          </a:xfrm>
          <a:prstGeom prst="rect">
            <a:avLst/>
          </a:prstGeom>
          <a:noFill/>
          <a:ln w="0">
            <a:noFill/>
          </a:ln>
        </p:spPr>
        <p:txBody>
          <a:bodyPr anchor="t">
            <a:normAutofit fontScale="44000"/>
          </a:bodyPr>
          <a:p>
            <a:pPr>
              <a:lnSpc>
                <a:spcPct val="90000"/>
              </a:lnSpc>
              <a:buNone/>
            </a:pPr>
            <a:r>
              <a:rPr b="1" lang="de-DE" sz="2700" spc="-1" strike="noStrike">
                <a:solidFill>
                  <a:srgbClr val="000000"/>
                </a:solidFill>
                <a:latin typeface="Arial"/>
              </a:rPr>
              <a:t>Folien Überschrift 1 (Arial Bold, 36pt)</a:t>
            </a:r>
            <a:br>
              <a:rPr sz="2700"/>
            </a:br>
            <a:endParaRPr b="0" lang="de-DE" sz="2700" spc="-1" strike="noStrike">
              <a:solidFill>
                <a:srgbClr val="000000"/>
              </a:solidFill>
              <a:latin typeface="Arial"/>
            </a:endParaRPr>
          </a:p>
        </p:txBody>
      </p:sp>
      <p:sp>
        <p:nvSpPr>
          <p:cNvPr id="41" name="PlaceHolder 2"/>
          <p:cNvSpPr>
            <a:spLocks noGrp="1"/>
          </p:cNvSpPr>
          <p:nvPr>
            <p:ph type="body"/>
          </p:nvPr>
        </p:nvSpPr>
        <p:spPr>
          <a:xfrm>
            <a:off x="180000" y="607680"/>
            <a:ext cx="8775000" cy="4049640"/>
          </a:xfrm>
          <a:prstGeom prst="rect">
            <a:avLst/>
          </a:prstGeom>
          <a:noFill/>
          <a:ln w="0">
            <a:noFill/>
          </a:ln>
        </p:spPr>
        <p:txBody>
          <a:bodyPr anchor="t">
            <a:noAutofit/>
          </a:bodyPr>
          <a:p>
            <a:pPr marL="171360" indent="-171360">
              <a:lnSpc>
                <a:spcPct val="90000"/>
              </a:lnSpc>
              <a:spcBef>
                <a:spcPts val="374"/>
              </a:spcBef>
              <a:spcAft>
                <a:spcPts val="374"/>
              </a:spcAft>
              <a:buClr>
                <a:srgbClr val="000000"/>
              </a:buClr>
              <a:buFont typeface="Arial"/>
              <a:buChar char="•"/>
            </a:pPr>
            <a:r>
              <a:rPr b="0" lang="en-US" sz="2100" spc="-1" strike="noStrike">
                <a:solidFill>
                  <a:srgbClr val="000000"/>
                </a:solidFill>
                <a:latin typeface="Arial"/>
              </a:rPr>
              <a:t>Click to edit Master text styles</a:t>
            </a:r>
            <a:endParaRPr b="0" lang="de-DE" sz="2100" spc="-1" strike="noStrike">
              <a:solidFill>
                <a:srgbClr val="000000"/>
              </a:solidFill>
              <a:latin typeface="Arial"/>
            </a:endParaRPr>
          </a:p>
          <a:p>
            <a:pPr lvl="1" marL="514440" indent="-171360">
              <a:lnSpc>
                <a:spcPct val="90000"/>
              </a:lnSpc>
              <a:spcBef>
                <a:spcPts val="374"/>
              </a:spcBef>
              <a:spcAft>
                <a:spcPts val="374"/>
              </a:spcAft>
              <a:buClr>
                <a:srgbClr val="000000"/>
              </a:buClr>
              <a:buFont typeface="Arial"/>
              <a:buChar char="•"/>
            </a:pPr>
            <a:r>
              <a:rPr b="0" lang="en-US" sz="1800" spc="-1" strike="noStrike">
                <a:solidFill>
                  <a:srgbClr val="000000"/>
                </a:solidFill>
                <a:latin typeface="Arial"/>
              </a:rPr>
              <a:t>Second level</a:t>
            </a:r>
            <a:endParaRPr b="0" lang="de-DE" sz="1800" spc="-1" strike="noStrike">
              <a:solidFill>
                <a:srgbClr val="000000"/>
              </a:solidFill>
              <a:latin typeface="Arial"/>
            </a:endParaRPr>
          </a:p>
          <a:p>
            <a:pPr lvl="2" marL="857160" indent="-171360">
              <a:lnSpc>
                <a:spcPct val="90000"/>
              </a:lnSpc>
              <a:spcBef>
                <a:spcPts val="374"/>
              </a:spcBef>
              <a:spcAft>
                <a:spcPts val="374"/>
              </a:spcAft>
              <a:buClr>
                <a:srgbClr val="000000"/>
              </a:buClr>
              <a:buFont typeface="Symbol"/>
              <a:buChar char="-"/>
            </a:pPr>
            <a:r>
              <a:rPr b="0" lang="en-US" sz="1350" spc="-1" strike="noStrike">
                <a:solidFill>
                  <a:srgbClr val="000000"/>
                </a:solidFill>
                <a:latin typeface="Arial"/>
              </a:rPr>
              <a:t>Third level</a:t>
            </a:r>
            <a:endParaRPr b="0" lang="de-DE" sz="1350" spc="-1" strike="noStrike">
              <a:solidFill>
                <a:srgbClr val="000000"/>
              </a:solidFill>
              <a:latin typeface="Arial"/>
            </a:endParaRPr>
          </a:p>
          <a:p>
            <a:pPr lvl="3" marL="1285920" indent="-171360">
              <a:lnSpc>
                <a:spcPct val="90000"/>
              </a:lnSpc>
              <a:spcBef>
                <a:spcPts val="374"/>
              </a:spcBef>
              <a:buClr>
                <a:srgbClr val="000000"/>
              </a:buClr>
              <a:buFont typeface="Symbol"/>
              <a:buChar char="-"/>
            </a:pPr>
            <a:r>
              <a:rPr b="0" lang="en-US" sz="1200" spc="-1" strike="noStrike">
                <a:solidFill>
                  <a:srgbClr val="000000"/>
                </a:solidFill>
                <a:latin typeface="Arial"/>
              </a:rPr>
              <a:t>Fourth level</a:t>
            </a:r>
            <a:endParaRPr b="0" lang="de-DE" sz="1200" spc="-1" strike="noStrike">
              <a:solidFill>
                <a:srgbClr val="000000"/>
              </a:solidFill>
              <a:latin typeface="Arial"/>
            </a:endParaRPr>
          </a:p>
          <a:p>
            <a:pPr lvl="4" marL="1542960" indent="-171360">
              <a:lnSpc>
                <a:spcPct val="90000"/>
              </a:lnSpc>
              <a:spcBef>
                <a:spcPts val="374"/>
              </a:spcBef>
              <a:buClr>
                <a:srgbClr val="000000"/>
              </a:buClr>
              <a:buFont typeface="Arial"/>
              <a:buChar char="•"/>
            </a:pPr>
            <a:r>
              <a:rPr b="0" lang="en-US" sz="1050" spc="-1" strike="noStrike">
                <a:solidFill>
                  <a:srgbClr val="000000"/>
                </a:solidFill>
                <a:latin typeface="Arial"/>
              </a:rPr>
              <a:t>Fifth level</a:t>
            </a:r>
            <a:endParaRPr b="0" lang="de-DE" sz="1050" spc="-1" strike="noStrike">
              <a:solidFill>
                <a:srgbClr val="000000"/>
              </a:solidFill>
              <a:latin typeface="Arial"/>
            </a:endParaRPr>
          </a:p>
        </p:txBody>
      </p:sp>
      <p:sp>
        <p:nvSpPr>
          <p:cNvPr id="42" name="Gerader Verbinder 9"/>
          <p:cNvSpPr/>
          <p:nvPr/>
        </p:nvSpPr>
        <p:spPr>
          <a:xfrm>
            <a:off x="8555040" y="4767480"/>
            <a:ext cx="360" cy="333720"/>
          </a:xfrm>
          <a:prstGeom prst="line">
            <a:avLst/>
          </a:prstGeom>
          <a:ln w="12700">
            <a:solidFill>
              <a:srgbClr val="ffffff">
                <a:lumMod val="65000"/>
              </a:srgbClr>
            </a:solidFill>
          </a:ln>
        </p:spPr>
        <p:style>
          <a:lnRef idx="1">
            <a:schemeClr val="accent1"/>
          </a:lnRef>
          <a:fillRef idx="0">
            <a:schemeClr val="accent1"/>
          </a:fillRef>
          <a:effectRef idx="0">
            <a:schemeClr val="accent1"/>
          </a:effectRef>
          <a:fontRef idx="minor"/>
        </p:style>
      </p:sp>
      <p:sp>
        <p:nvSpPr>
          <p:cNvPr id="43" name="Gerader Verbinder 23"/>
          <p:cNvSpPr/>
          <p:nvPr/>
        </p:nvSpPr>
        <p:spPr>
          <a:xfrm>
            <a:off x="0" y="4736880"/>
            <a:ext cx="9144000" cy="360"/>
          </a:xfrm>
          <a:prstGeom prst="line">
            <a:avLst/>
          </a:prstGeom>
          <a:ln w="12700">
            <a:solidFill>
              <a:srgbClr val="72777a"/>
            </a:solidFill>
          </a:ln>
        </p:spPr>
        <p:style>
          <a:lnRef idx="1">
            <a:schemeClr val="accent1"/>
          </a:lnRef>
          <a:fillRef idx="0">
            <a:schemeClr val="accent1"/>
          </a:fillRef>
          <a:effectRef idx="0">
            <a:schemeClr val="accent1"/>
          </a:effectRef>
          <a:fontRef idx="minor"/>
        </p:style>
      </p:sp>
      <p:sp>
        <p:nvSpPr>
          <p:cNvPr id="44" name="PlaceHolder 3"/>
          <p:cNvSpPr>
            <a:spLocks noGrp="1"/>
          </p:cNvSpPr>
          <p:nvPr>
            <p:ph type="ftr" idx="1"/>
          </p:nvPr>
        </p:nvSpPr>
        <p:spPr>
          <a:xfrm>
            <a:off x="2793240" y="4812480"/>
            <a:ext cx="5673960" cy="273600"/>
          </a:xfrm>
          <a:prstGeom prst="rect">
            <a:avLst/>
          </a:prstGeom>
          <a:noFill/>
          <a:ln w="0">
            <a:noFill/>
          </a:ln>
        </p:spPr>
        <p:txBody>
          <a:bodyPr anchor="ctr">
            <a:noAutofit/>
          </a:bodyPr>
          <a:lstStyle>
            <a:lvl1pPr algn="r">
              <a:lnSpc>
                <a:spcPct val="100000"/>
              </a:lnSpc>
              <a:buNone/>
              <a:defRPr b="0" lang="en-GB" sz="750" spc="-1" strike="noStrike">
                <a:solidFill>
                  <a:srgbClr val="000000"/>
                </a:solidFill>
                <a:latin typeface="Arial"/>
              </a:defRPr>
            </a:lvl1pPr>
          </a:lstStyle>
          <a:p>
            <a:pPr algn="r">
              <a:lnSpc>
                <a:spcPct val="100000"/>
              </a:lnSpc>
              <a:buNone/>
            </a:pPr>
            <a:r>
              <a:rPr b="0" lang="en-GB" sz="750" spc="-1" strike="noStrike">
                <a:solidFill>
                  <a:srgbClr val="000000"/>
                </a:solidFill>
                <a:latin typeface="Arial"/>
              </a:rPr>
              <a:t>&lt;footer&gt;</a:t>
            </a:r>
            <a:endParaRPr b="0" lang="en-US" sz="750" spc="-1" strike="noStrike">
              <a:latin typeface="Times New Roman"/>
            </a:endParaRPr>
          </a:p>
        </p:txBody>
      </p:sp>
      <p:sp>
        <p:nvSpPr>
          <p:cNvPr id="45" name="PlaceHolder 4"/>
          <p:cNvSpPr>
            <a:spLocks noGrp="1"/>
          </p:cNvSpPr>
          <p:nvPr>
            <p:ph type="sldNum" idx="2"/>
          </p:nvPr>
        </p:nvSpPr>
        <p:spPr>
          <a:xfrm>
            <a:off x="8542080" y="4812480"/>
            <a:ext cx="484920" cy="273600"/>
          </a:xfrm>
          <a:prstGeom prst="rect">
            <a:avLst/>
          </a:prstGeom>
          <a:noFill/>
          <a:ln w="0">
            <a:noFill/>
          </a:ln>
        </p:spPr>
        <p:txBody>
          <a:bodyPr anchor="ctr">
            <a:noAutofit/>
          </a:bodyPr>
          <a:lstStyle>
            <a:lvl1pPr algn="r">
              <a:lnSpc>
                <a:spcPct val="100000"/>
              </a:lnSpc>
              <a:buNone/>
              <a:defRPr b="0" lang="en-GB" sz="900" spc="-1" strike="noStrike">
                <a:solidFill>
                  <a:srgbClr val="000000"/>
                </a:solidFill>
                <a:latin typeface="Arial"/>
              </a:defRPr>
            </a:lvl1pPr>
          </a:lstStyle>
          <a:p>
            <a:pPr algn="r">
              <a:lnSpc>
                <a:spcPct val="100000"/>
              </a:lnSpc>
              <a:buNone/>
            </a:pPr>
            <a:fld id="{BD02197D-2EA3-4EBD-943F-2FF6F6C65786}" type="slidenum">
              <a:rPr b="0" lang="en-GB" sz="900" spc="-1" strike="noStrike">
                <a:solidFill>
                  <a:srgbClr val="000000"/>
                </a:solidFill>
                <a:latin typeface="Arial"/>
              </a:rPr>
              <a:t>&lt;number&gt;</a:t>
            </a:fld>
            <a:endParaRPr b="0" lang="en-US" sz="900" spc="-1" strike="noStrike">
              <a:latin typeface="Times New Roman"/>
            </a:endParaRPr>
          </a:p>
        </p:txBody>
      </p:sp>
      <p:pic>
        <p:nvPicPr>
          <p:cNvPr id="46" name="Grafik 8" descr=""/>
          <p:cNvPicPr/>
          <p:nvPr/>
        </p:nvPicPr>
        <p:blipFill>
          <a:blip r:embed="rId2"/>
          <a:stretch/>
        </p:blipFill>
        <p:spPr>
          <a:xfrm>
            <a:off x="0" y="4704480"/>
            <a:ext cx="696600" cy="4388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hyperlink" Target="https://docs.arc42.org/section-4/" TargetMode="External"/><Relationship Id="rId2" Type="http://schemas.openxmlformats.org/officeDocument/2006/relationships/hyperlink" Target="https://biking.michael-simons.eu/docs/index.html#section-solution-strategy" TargetMode="External"/><Relationship Id="rId3"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hyperlink" Target="https://docs.arc42.org/section-9/" TargetMode="External"/><Relationship Id="rId2" Type="http://schemas.openxmlformats.org/officeDocument/2006/relationships/hyperlink" Target="https://biking.michael-simons.eu/docs/index.html#section-design-decisions" TargetMode="External"/><Relationship Id="rId3"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hyperlink" Target="https://docs.arc42.org/section-11/" TargetMode="External"/><Relationship Id="rId2" Type="http://schemas.openxmlformats.org/officeDocument/2006/relationships/hyperlink" Target="https://docs.arc42.org/examples/risk-htmlsc-1/" TargetMode="External"/><Relationship Id="rId3" Type="http://schemas.openxmlformats.org/officeDocument/2006/relationships/slideLayout" Target="../slideLayouts/slideLayout1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058920" y="3582720"/>
            <a:ext cx="5215680" cy="531720"/>
          </a:xfrm>
          <a:prstGeom prst="rect">
            <a:avLst/>
          </a:prstGeom>
          <a:noFill/>
          <a:ln w="0">
            <a:noFill/>
          </a:ln>
        </p:spPr>
        <p:txBody>
          <a:bodyPr anchor="ctr">
            <a:normAutofit fontScale="95000"/>
          </a:bodyPr>
          <a:p>
            <a:pPr algn="r">
              <a:lnSpc>
                <a:spcPct val="90000"/>
              </a:lnSpc>
              <a:buNone/>
            </a:pPr>
            <a:r>
              <a:rPr b="1" lang="en-US" sz="2700" spc="-1" strike="noStrike">
                <a:solidFill>
                  <a:srgbClr val="72777a"/>
                </a:solidFill>
                <a:latin typeface="Arial"/>
              </a:rPr>
              <a:t>Solutions, Decisions and Risks</a:t>
            </a:r>
            <a:endParaRPr b="0" lang="de-DE" sz="2700" spc="-1" strike="noStrike">
              <a:solidFill>
                <a:srgbClr val="000000"/>
              </a:solidFill>
              <a:latin typeface="Arial"/>
            </a:endParaRPr>
          </a:p>
        </p:txBody>
      </p:sp>
      <p:sp>
        <p:nvSpPr>
          <p:cNvPr id="84" name="PlaceHolder 2"/>
          <p:cNvSpPr>
            <a:spLocks noGrp="1"/>
          </p:cNvSpPr>
          <p:nvPr>
            <p:ph/>
          </p:nvPr>
        </p:nvSpPr>
        <p:spPr>
          <a:xfrm>
            <a:off x="3058920" y="4182120"/>
            <a:ext cx="5215680" cy="359280"/>
          </a:xfrm>
          <a:prstGeom prst="rect">
            <a:avLst/>
          </a:prstGeom>
          <a:noFill/>
          <a:ln w="0">
            <a:noFill/>
          </a:ln>
        </p:spPr>
        <p:txBody>
          <a:bodyPr anchor="t">
            <a:normAutofit fontScale="93000"/>
          </a:bodyPr>
          <a:p>
            <a:pPr algn="r">
              <a:lnSpc>
                <a:spcPct val="90000"/>
              </a:lnSpc>
              <a:spcBef>
                <a:spcPts val="374"/>
              </a:spcBef>
              <a:spcAft>
                <a:spcPts val="374"/>
              </a:spcAft>
              <a:buNone/>
              <a:tabLst>
                <a:tab algn="l" pos="0"/>
              </a:tabLst>
            </a:pPr>
            <a:r>
              <a:rPr b="0" lang="en-US" sz="2100" spc="-1" strike="noStrike">
                <a:solidFill>
                  <a:srgbClr val="72777a"/>
                </a:solidFill>
                <a:latin typeface="Arial"/>
              </a:rPr>
              <a:t>Software Architecture</a:t>
            </a:r>
            <a:endParaRPr b="0" lang="de-DE"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80000" y="114480"/>
            <a:ext cx="8775000" cy="438840"/>
          </a:xfrm>
          <a:prstGeom prst="rect">
            <a:avLst/>
          </a:prstGeom>
          <a:noFill/>
          <a:ln w="0">
            <a:noFill/>
          </a:ln>
        </p:spPr>
        <p:txBody>
          <a:bodyPr anchor="t">
            <a:normAutofit fontScale="94000"/>
          </a:bodyPr>
          <a:p>
            <a:pPr>
              <a:lnSpc>
                <a:spcPct val="90000"/>
              </a:lnSpc>
              <a:buNone/>
            </a:pPr>
            <a:r>
              <a:rPr b="1" lang="en-US" sz="2700" spc="-1" strike="noStrike">
                <a:solidFill>
                  <a:srgbClr val="000000"/>
                </a:solidFill>
                <a:latin typeface="Arial"/>
              </a:rPr>
              <a:t>Solution Strategy</a:t>
            </a:r>
            <a:endParaRPr b="0" lang="de-DE" sz="2700" spc="-1" strike="noStrike">
              <a:solidFill>
                <a:srgbClr val="000000"/>
              </a:solidFill>
              <a:latin typeface="Arial"/>
            </a:endParaRPr>
          </a:p>
        </p:txBody>
      </p:sp>
      <p:sp>
        <p:nvSpPr>
          <p:cNvPr id="86" name="PlaceHolder 2"/>
          <p:cNvSpPr>
            <a:spLocks noGrp="1"/>
          </p:cNvSpPr>
          <p:nvPr>
            <p:ph type="ftr" idx="3"/>
          </p:nvPr>
        </p:nvSpPr>
        <p:spPr>
          <a:xfrm>
            <a:off x="2793240" y="4812480"/>
            <a:ext cx="5673960" cy="273600"/>
          </a:xfrm>
          <a:prstGeom prst="rect">
            <a:avLst/>
          </a:prstGeom>
          <a:noFill/>
          <a:ln w="0">
            <a:noFill/>
          </a:ln>
        </p:spPr>
        <p:txBody>
          <a:bodyPr anchor="ctr">
            <a:noAutofit/>
          </a:bodyPr>
          <a:lstStyle>
            <a:lvl1pPr algn="r">
              <a:lnSpc>
                <a:spcPct val="100000"/>
              </a:lnSpc>
              <a:buNone/>
              <a:defRPr b="0" lang="en-GB" sz="750" spc="-1" strike="noStrike">
                <a:solidFill>
                  <a:srgbClr val="000000"/>
                </a:solidFill>
                <a:latin typeface="Arial"/>
              </a:defRPr>
            </a:lvl1pPr>
          </a:lstStyle>
          <a:p>
            <a:pPr algn="r">
              <a:lnSpc>
                <a:spcPct val="100000"/>
              </a:lnSpc>
              <a:buNone/>
            </a:pPr>
            <a:r>
              <a:rPr b="0" lang="en-GB" sz="750" spc="-1" strike="noStrike">
                <a:solidFill>
                  <a:srgbClr val="000000"/>
                </a:solidFill>
                <a:latin typeface="Arial"/>
              </a:rPr>
              <a:t>Software Architecture</a:t>
            </a:r>
            <a:endParaRPr b="0" lang="en-US" sz="750" spc="-1" strike="noStrike">
              <a:latin typeface="Times New Roman"/>
            </a:endParaRPr>
          </a:p>
        </p:txBody>
      </p:sp>
      <p:sp>
        <p:nvSpPr>
          <p:cNvPr id="87" name="PlaceHolder 3"/>
          <p:cNvSpPr>
            <a:spLocks noGrp="1"/>
          </p:cNvSpPr>
          <p:nvPr>
            <p:ph type="sldNum" idx="4"/>
          </p:nvPr>
        </p:nvSpPr>
        <p:spPr>
          <a:xfrm>
            <a:off x="8542080" y="4812480"/>
            <a:ext cx="484920" cy="273600"/>
          </a:xfrm>
          <a:prstGeom prst="rect">
            <a:avLst/>
          </a:prstGeom>
          <a:noFill/>
          <a:ln w="0">
            <a:noFill/>
          </a:ln>
        </p:spPr>
        <p:txBody>
          <a:bodyPr anchor="ctr">
            <a:noAutofit/>
          </a:bodyPr>
          <a:lstStyle>
            <a:lvl1pPr algn="r">
              <a:lnSpc>
                <a:spcPct val="100000"/>
              </a:lnSpc>
              <a:buNone/>
              <a:defRPr b="0" lang="en-GB" sz="900" spc="-1" strike="noStrike">
                <a:solidFill>
                  <a:srgbClr val="000000"/>
                </a:solidFill>
                <a:latin typeface="Arial"/>
              </a:defRPr>
            </a:lvl1pPr>
          </a:lstStyle>
          <a:p>
            <a:pPr algn="r">
              <a:lnSpc>
                <a:spcPct val="100000"/>
              </a:lnSpc>
              <a:buNone/>
            </a:pPr>
            <a:fld id="{C75FE792-CA3C-45B4-A215-11A32213D936}" type="slidenum">
              <a:rPr b="0" lang="en-GB" sz="900" spc="-1" strike="noStrike">
                <a:solidFill>
                  <a:srgbClr val="000000"/>
                </a:solidFill>
                <a:latin typeface="Arial"/>
              </a:rPr>
              <a:t>2</a:t>
            </a:fld>
            <a:endParaRPr b="0" lang="en-US" sz="900" spc="-1" strike="noStrike">
              <a:latin typeface="Times New Roman"/>
            </a:endParaRPr>
          </a:p>
        </p:txBody>
      </p:sp>
      <p:sp>
        <p:nvSpPr>
          <p:cNvPr id="88" name="Textplatzhalter 6"/>
          <p:cNvSpPr/>
          <p:nvPr/>
        </p:nvSpPr>
        <p:spPr>
          <a:xfrm>
            <a:off x="180000" y="2707920"/>
            <a:ext cx="8775000" cy="2512080"/>
          </a:xfrm>
          <a:prstGeom prst="rect">
            <a:avLst/>
          </a:prstGeom>
          <a:noFill/>
          <a:ln w="0">
            <a:noFill/>
          </a:ln>
        </p:spPr>
        <p:style>
          <a:lnRef idx="0"/>
          <a:fillRef idx="0"/>
          <a:effectRef idx="0"/>
          <a:fontRef idx="minor"/>
        </p:style>
        <p:txBody>
          <a:bodyPr anchor="t">
            <a:normAutofit/>
          </a:bodyPr>
          <a:p>
            <a:pPr>
              <a:lnSpc>
                <a:spcPct val="90000"/>
              </a:lnSpc>
              <a:spcBef>
                <a:spcPts val="374"/>
              </a:spcBef>
              <a:spcAft>
                <a:spcPts val="374"/>
              </a:spcAft>
              <a:buNone/>
              <a:tabLst>
                <a:tab algn="l" pos="0"/>
              </a:tabLst>
            </a:pPr>
            <a:r>
              <a:rPr b="0" i="1" lang="en-US" sz="1200" spc="-1" strike="noStrike">
                <a:solidFill>
                  <a:srgbClr val="72777a"/>
                </a:solidFill>
                <a:latin typeface="Arial"/>
              </a:rPr>
              <a:t>These decisions form the cornerstones for your architecture. They are the basis for many other detailed decisions or implementation rules.</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Define three goals/requirements and their architectural approach. The first approach must be the decision between a Monolith, Service-Oriented Architecture or Microservice approach.</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Help: </a:t>
            </a:r>
            <a:r>
              <a:rPr b="0" lang="en-US" sz="1200" spc="-1" strike="noStrike" u="sng">
                <a:solidFill>
                  <a:srgbClr val="00649c"/>
                </a:solidFill>
                <a:uFillTx/>
                <a:latin typeface="Arial"/>
                <a:hlinkClick r:id="rId1"/>
              </a:rPr>
              <a:t>https://docs.arc42.org/section-4/</a:t>
            </a:r>
            <a:r>
              <a:rPr b="0" lang="en-US" sz="1200" spc="-1" strike="noStrike" u="sng">
                <a:solidFill>
                  <a:srgbClr val="00649c"/>
                </a:solidFill>
                <a:uFillTx/>
                <a:latin typeface="Arial"/>
              </a:rPr>
              <a:t>&lt;</a:t>
            </a:r>
            <a:r>
              <a:rPr b="0" lang="en-US" sz="1200" spc="-1" strike="noStrike">
                <a:solidFill>
                  <a:srgbClr val="72777a"/>
                </a:solidFill>
                <a:latin typeface="Arial"/>
              </a:rPr>
              <a:t> &amp; </a:t>
            </a:r>
            <a:r>
              <a:rPr b="0" lang="en-US" sz="1200" spc="-1" strike="noStrike" u="sng">
                <a:solidFill>
                  <a:srgbClr val="00649c"/>
                </a:solidFill>
                <a:uFillTx/>
                <a:latin typeface="Arial"/>
                <a:hlinkClick r:id="rId2"/>
              </a:rPr>
              <a:t>https://biking.michael-simons.eu/docs/index.html#section-solution-strategy</a:t>
            </a:r>
            <a:r>
              <a:rPr b="0" lang="en-US" sz="1200" spc="-1" strike="noStrike">
                <a:solidFill>
                  <a:srgbClr val="72777a"/>
                </a:solidFill>
                <a:latin typeface="Arial"/>
              </a:rPr>
              <a:t> </a:t>
            </a:r>
            <a:endParaRPr b="0" lang="en-US" sz="1200" spc="-1" strike="noStrike">
              <a:latin typeface="Arial"/>
            </a:endParaRPr>
          </a:p>
        </p:txBody>
      </p:sp>
      <p:graphicFrame>
        <p:nvGraphicFramePr>
          <p:cNvPr id="89" name="Table 7"/>
          <p:cNvGraphicFramePr/>
          <p:nvPr/>
        </p:nvGraphicFramePr>
        <p:xfrm>
          <a:off x="180000" y="607680"/>
          <a:ext cx="8775000" cy="1482840"/>
        </p:xfrm>
        <a:graphic>
          <a:graphicData uri="http://schemas.openxmlformats.org/drawingml/2006/table">
            <a:tbl>
              <a:tblPr/>
              <a:tblGrid>
                <a:gridCol w="2328120"/>
                <a:gridCol w="6446880"/>
              </a:tblGrid>
              <a:tr h="370800">
                <a:tc>
                  <a:txBody>
                    <a:bodyPr anchor="t">
                      <a:noAutofit/>
                    </a:bodyPr>
                    <a:p>
                      <a:pPr>
                        <a:lnSpc>
                          <a:spcPct val="100000"/>
                        </a:lnSpc>
                        <a:buNone/>
                      </a:pPr>
                      <a:r>
                        <a:rPr b="1" lang="en-US" sz="1350" spc="-1" strike="noStrike">
                          <a:solidFill>
                            <a:srgbClr val="ffffff"/>
                          </a:solidFill>
                          <a:latin typeface="Arial"/>
                        </a:rPr>
                        <a:t>Goal/Requirements</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c>
                  <a:txBody>
                    <a:bodyPr anchor="t">
                      <a:noAutofit/>
                    </a:bodyPr>
                    <a:p>
                      <a:pPr>
                        <a:lnSpc>
                          <a:spcPct val="100000"/>
                        </a:lnSpc>
                        <a:buNone/>
                      </a:pPr>
                      <a:r>
                        <a:rPr b="1" lang="en-US" sz="1350" spc="-1" strike="noStrike">
                          <a:solidFill>
                            <a:srgbClr val="ffffff"/>
                          </a:solidFill>
                          <a:latin typeface="Arial"/>
                        </a:rPr>
                        <a:t>Architectural Approach</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r>
              <a:tr h="370800">
                <a:tc>
                  <a:txBody>
                    <a:bodyPr/>
                    <a:p>
                      <a:r>
                        <a:rPr sz="1000"/>
                        <a:t>Unabhängige Skalierbarkeit einzelner Funktionsbereiche (Bildverarbeitung, User-Management, Community)</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nchor="t">
                      <a:noAutofit/>
                    </a:bodyPr>
                    <a:p>
                      <a:r>
                        <a:rPr sz="1000"/>
                        <a:t>Microservice-Architektur – Die App wird in eigenständige Services aufgeteilt: Image Service (Upload, Speicherung, Komprimierung), User Service (Authentifizierung, Profile), Community Service (Kommentare, Likes, Challenges), Editing Service (Pixlr-Integration, Filter). Jeder Service kann unabhängig entwickelt, deployed und skaliert werden. Der Image Service kann z.B. bei hohem Upload-Aufkommen separat hochskaliert werden, ohne andere Services zu beeinflussen.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r h="370800">
                <a:tc>
                  <a:txBody>
                    <a:bodyPr/>
                    <a:p>
                      <a:r>
                        <a:rPr sz="1000"/>
                        <a:t>Plattformübergreifende Verfügbarkeit (iOS &amp; Android) und schnelle Entwicklung</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c>
                  <a:txBody>
                    <a:bodyPr anchor="t">
                      <a:noAutofit/>
                    </a:bodyPr>
                    <a:p>
                      <a:r>
                        <a:rPr sz="1000"/>
                        <a:t>React Native (Frontend), Node.js mit Express (Backend), PostgreSQL (relationale Daten), Cloud Object Storage für Bilder, REST API für Kommunikation. Pixlr-Integration über deren API.</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r>
              <a:tr h="370800">
                <a:tc>
                  <a:txBody>
                    <a:bodyPr/>
                    <a:p>
                      <a:r>
                        <a:rPr sz="1000"/>
                        <a:t>Skalierbarkeit und Kosteneffizienz bei wachsender Nutzerbasis</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nchor="t">
                      <a:noAutofit/>
                    </a:bodyPr>
                    <a:p>
                      <a:r>
                        <a:rPr sz="1000"/>
                        <a:t>Cloud-Deployment (AWS oder GCP) mit Docker-Containern. Ermöglicht elastische Skalierung bei steigender Nutzerzahl und Bilddaten, ohne hohe Vorabinvestitionen in eigene Hardware.</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r h="370800">
                <a:tc>
                  <a:txBody>
                    <a:bodyPr/>
                    <a:p>
                      <a:r>
                        <a:rPr sz="1000"/>
                        <a:t>Zuverlässigkeit und Qualitätssicherung der App</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nchor="t">
                      <a:noAutofit/>
                    </a:bodyPr>
                    <a:p>
                      <a:r>
                        <a:rPr sz="1000"/>
                        <a:t>Unit Tests für Kernlogik (Bildverarbeitung, Authentifizierung), Integrationstests für Pixlr-API-Anbindung, regelmäßige Stakeholder-Reviews nach jedem Sprint, automatisierte CI/CD-Pipeline für kontinuierliches Deployment.</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80000" y="114480"/>
            <a:ext cx="8775000" cy="438840"/>
          </a:xfrm>
          <a:prstGeom prst="rect">
            <a:avLst/>
          </a:prstGeom>
          <a:noFill/>
          <a:ln w="0">
            <a:noFill/>
          </a:ln>
        </p:spPr>
        <p:txBody>
          <a:bodyPr anchor="t">
            <a:normAutofit fontScale="94000"/>
          </a:bodyPr>
          <a:p>
            <a:pPr>
              <a:lnSpc>
                <a:spcPct val="90000"/>
              </a:lnSpc>
              <a:buNone/>
            </a:pPr>
            <a:r>
              <a:rPr b="1" lang="en-US" sz="2700" spc="-1" strike="noStrike">
                <a:solidFill>
                  <a:srgbClr val="000000"/>
                </a:solidFill>
                <a:latin typeface="Arial"/>
              </a:rPr>
              <a:t>Architecture Decisions</a:t>
            </a:r>
            <a:endParaRPr b="0" lang="de-DE" sz="2700" spc="-1" strike="noStrike">
              <a:solidFill>
                <a:srgbClr val="000000"/>
              </a:solidFill>
              <a:latin typeface="Arial"/>
            </a:endParaRPr>
          </a:p>
        </p:txBody>
      </p:sp>
      <p:sp>
        <p:nvSpPr>
          <p:cNvPr id="91" name="PlaceHolder 2"/>
          <p:cNvSpPr>
            <a:spLocks noGrp="1"/>
          </p:cNvSpPr>
          <p:nvPr>
            <p:ph type="ftr" idx="5"/>
          </p:nvPr>
        </p:nvSpPr>
        <p:spPr>
          <a:xfrm>
            <a:off x="2793240" y="4812480"/>
            <a:ext cx="5673960" cy="273600"/>
          </a:xfrm>
          <a:prstGeom prst="rect">
            <a:avLst/>
          </a:prstGeom>
          <a:noFill/>
          <a:ln w="0">
            <a:noFill/>
          </a:ln>
        </p:spPr>
        <p:txBody>
          <a:bodyPr anchor="ctr">
            <a:noAutofit/>
          </a:bodyPr>
          <a:lstStyle>
            <a:lvl1pPr algn="r">
              <a:lnSpc>
                <a:spcPct val="100000"/>
              </a:lnSpc>
              <a:buNone/>
              <a:defRPr b="0" lang="en-GB" sz="750" spc="-1" strike="noStrike">
                <a:solidFill>
                  <a:srgbClr val="000000"/>
                </a:solidFill>
                <a:latin typeface="Arial"/>
              </a:defRPr>
            </a:lvl1pPr>
          </a:lstStyle>
          <a:p>
            <a:pPr algn="r">
              <a:lnSpc>
                <a:spcPct val="100000"/>
              </a:lnSpc>
              <a:buNone/>
            </a:pPr>
            <a:r>
              <a:rPr b="0" lang="en-GB" sz="750" spc="-1" strike="noStrike">
                <a:solidFill>
                  <a:srgbClr val="000000"/>
                </a:solidFill>
                <a:latin typeface="Arial"/>
              </a:rPr>
              <a:t>Software Architecture</a:t>
            </a:r>
            <a:endParaRPr b="0" lang="en-US" sz="750" spc="-1" strike="noStrike">
              <a:latin typeface="Times New Roman"/>
            </a:endParaRPr>
          </a:p>
        </p:txBody>
      </p:sp>
      <p:sp>
        <p:nvSpPr>
          <p:cNvPr id="92" name="PlaceHolder 3"/>
          <p:cNvSpPr>
            <a:spLocks noGrp="1"/>
          </p:cNvSpPr>
          <p:nvPr>
            <p:ph type="sldNum" idx="6"/>
          </p:nvPr>
        </p:nvSpPr>
        <p:spPr>
          <a:xfrm>
            <a:off x="8542080" y="4812480"/>
            <a:ext cx="484920" cy="273600"/>
          </a:xfrm>
          <a:prstGeom prst="rect">
            <a:avLst/>
          </a:prstGeom>
          <a:noFill/>
          <a:ln w="0">
            <a:noFill/>
          </a:ln>
        </p:spPr>
        <p:txBody>
          <a:bodyPr anchor="ctr">
            <a:noAutofit/>
          </a:bodyPr>
          <a:lstStyle>
            <a:lvl1pPr algn="r">
              <a:lnSpc>
                <a:spcPct val="100000"/>
              </a:lnSpc>
              <a:buNone/>
              <a:defRPr b="0" lang="en-GB" sz="900" spc="-1" strike="noStrike">
                <a:solidFill>
                  <a:srgbClr val="000000"/>
                </a:solidFill>
                <a:latin typeface="Arial"/>
              </a:defRPr>
            </a:lvl1pPr>
          </a:lstStyle>
          <a:p>
            <a:pPr algn="r">
              <a:lnSpc>
                <a:spcPct val="100000"/>
              </a:lnSpc>
              <a:buNone/>
            </a:pPr>
            <a:fld id="{01957DD6-D3FD-4A98-A935-17328C7F094A}" type="slidenum">
              <a:rPr b="0" lang="en-GB" sz="900" spc="-1" strike="noStrike">
                <a:solidFill>
                  <a:srgbClr val="000000"/>
                </a:solidFill>
                <a:latin typeface="Arial"/>
              </a:rPr>
              <a:t>3</a:t>
            </a:fld>
            <a:endParaRPr b="0" lang="en-US" sz="900" spc="-1" strike="noStrike">
              <a:latin typeface="Times New Roman"/>
            </a:endParaRPr>
          </a:p>
        </p:txBody>
      </p:sp>
      <p:sp>
        <p:nvSpPr>
          <p:cNvPr id="93" name="Textplatzhalter 6"/>
          <p:cNvSpPr/>
          <p:nvPr/>
        </p:nvSpPr>
        <p:spPr>
          <a:xfrm>
            <a:off x="180000" y="2144880"/>
            <a:ext cx="8775000" cy="2512080"/>
          </a:xfrm>
          <a:prstGeom prst="rect">
            <a:avLst/>
          </a:prstGeom>
          <a:noFill/>
          <a:ln w="0">
            <a:noFill/>
          </a:ln>
        </p:spPr>
        <p:style>
          <a:lnRef idx="0"/>
          <a:fillRef idx="0"/>
          <a:effectRef idx="0"/>
          <a:fontRef idx="minor"/>
        </p:style>
        <p:txBody>
          <a:bodyPr anchor="t">
            <a:normAutofit/>
          </a:bodyPr>
          <a:p>
            <a:pPr>
              <a:lnSpc>
                <a:spcPct val="90000"/>
              </a:lnSpc>
              <a:spcBef>
                <a:spcPts val="374"/>
              </a:spcBef>
              <a:spcAft>
                <a:spcPts val="374"/>
              </a:spcAft>
              <a:buNone/>
              <a:tabLst>
                <a:tab algn="l" pos="0"/>
              </a:tabLst>
            </a:pPr>
            <a:r>
              <a:rPr b="0" i="1" lang="en-US" sz="1200" spc="-1" strike="noStrike">
                <a:solidFill>
                  <a:srgbClr val="72777a"/>
                </a:solidFill>
                <a:latin typeface="Arial"/>
              </a:rPr>
              <a:t>Stakeholders of your system should be able to comprehend and retrace your decisions.</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Define three important, expensive, large scale or risky architecture decisions including rationales. With “decisions” we mean selecting one alternative based on given criteria.</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Help: </a:t>
            </a:r>
            <a:r>
              <a:rPr b="0" lang="en-US" sz="1200" spc="-1" strike="noStrike" u="sng">
                <a:solidFill>
                  <a:srgbClr val="00649c"/>
                </a:solidFill>
                <a:uFillTx/>
                <a:latin typeface="Arial"/>
                <a:hlinkClick r:id="rId1"/>
              </a:rPr>
              <a:t>https://docs.arc42.org/section-9/</a:t>
            </a:r>
            <a:r>
              <a:rPr b="0" lang="en-US" sz="1200" spc="-1" strike="noStrike">
                <a:solidFill>
                  <a:srgbClr val="72777a"/>
                </a:solidFill>
                <a:latin typeface="Arial"/>
              </a:rPr>
              <a:t> &amp; </a:t>
            </a:r>
            <a:r>
              <a:rPr b="0" lang="en-US" sz="1200" spc="-1" strike="noStrike" u="sng">
                <a:solidFill>
                  <a:srgbClr val="00649c"/>
                </a:solidFill>
                <a:uFillTx/>
                <a:latin typeface="Arial"/>
                <a:hlinkClick r:id="rId2"/>
              </a:rPr>
              <a:t>https://biking.michael-simons.eu/docs/index.html#section-design-decisions</a:t>
            </a:r>
            <a:r>
              <a:rPr b="0" lang="en-US" sz="1200" spc="-1" strike="noStrike">
                <a:solidFill>
                  <a:srgbClr val="72777a"/>
                </a:solidFill>
                <a:latin typeface="Arial"/>
              </a:rPr>
              <a:t> </a:t>
            </a:r>
            <a:endParaRPr b="0" lang="en-US" sz="1200" spc="-1" strike="noStrike">
              <a:latin typeface="Arial"/>
            </a:endParaRPr>
          </a:p>
        </p:txBody>
      </p:sp>
      <p:graphicFrame>
        <p:nvGraphicFramePr>
          <p:cNvPr id="94" name="Table 7"/>
          <p:cNvGraphicFramePr/>
          <p:nvPr/>
        </p:nvGraphicFramePr>
        <p:xfrm>
          <a:off x="180000" y="607680"/>
          <a:ext cx="8775000" cy="1482840"/>
        </p:xfrm>
        <a:graphic>
          <a:graphicData uri="http://schemas.openxmlformats.org/drawingml/2006/table">
            <a:tbl>
              <a:tblPr/>
              <a:tblGrid>
                <a:gridCol w="2455200"/>
                <a:gridCol w="2997000"/>
                <a:gridCol w="3322800"/>
              </a:tblGrid>
              <a:tr h="370800">
                <a:tc>
                  <a:txBody>
                    <a:bodyPr anchor="t">
                      <a:noAutofit/>
                    </a:bodyPr>
                    <a:p>
                      <a:pPr>
                        <a:lnSpc>
                          <a:spcPct val="100000"/>
                        </a:lnSpc>
                        <a:buNone/>
                      </a:pPr>
                      <a:r>
                        <a:rPr b="1" lang="en-US" sz="1350" spc="-1" strike="noStrike">
                          <a:solidFill>
                            <a:srgbClr val="ffffff"/>
                          </a:solidFill>
                          <a:latin typeface="Arial"/>
                        </a:rPr>
                        <a:t>Problem</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c>
                  <a:txBody>
                    <a:bodyPr anchor="t">
                      <a:noAutofit/>
                    </a:bodyPr>
                    <a:p>
                      <a:pPr>
                        <a:lnSpc>
                          <a:spcPct val="100000"/>
                        </a:lnSpc>
                        <a:buNone/>
                      </a:pPr>
                      <a:r>
                        <a:rPr b="1" lang="en-US" sz="1350" spc="-1" strike="noStrike">
                          <a:solidFill>
                            <a:srgbClr val="ffffff"/>
                          </a:solidFill>
                          <a:latin typeface="Arial"/>
                        </a:rPr>
                        <a:t>Considered Alternatives</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c>
                  <a:txBody>
                    <a:bodyPr anchor="t">
                      <a:noAutofit/>
                    </a:bodyPr>
                    <a:p>
                      <a:pPr>
                        <a:lnSpc>
                          <a:spcPct val="100000"/>
                        </a:lnSpc>
                        <a:buNone/>
                      </a:pPr>
                      <a:r>
                        <a:rPr b="1" lang="en-US" sz="1350" spc="-1" strike="noStrike">
                          <a:solidFill>
                            <a:srgbClr val="ffffff"/>
                          </a:solidFill>
                          <a:latin typeface="Arial"/>
                        </a:rPr>
                        <a:t>Decision</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r>
              <a:tr h="370800">
                <a:tc>
                  <a:txBody>
                    <a:bodyPr/>
                    <a:p>
                      <a:r>
                        <a:rPr sz="1000"/>
                        <a:t>Wie sollen Bilder gespeichert werden?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1) Lokaler Server-Speicher</a:t>
                      </a:r>
                    </a:p>
                    <a:p>
                      <a:r>
                        <a:rPr sz="1000"/>
                        <a:t>2) Cloud Object Storage (z.B. AWS S3)</a:t>
                      </a:r>
                    </a:p>
                    <a:p>
                      <a:r>
                        <a:rPr sz="1000"/>
                        <a:t>3) Dedizierter Medienserver</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Cloud Object Storage (AWS S3 / GCS) – Automatische Skalierung bei wachsender Bildmenge, integrierte Redundanz, CDN-Anbindung für schnelle Ladezeiten weltweit. Lokaler Speicher wäre bei steigender Nutzerzahl nicht wirtschaftlich skalierbar.</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r h="370800">
                <a:tc>
                  <a:txBody>
                    <a:bodyPr/>
                    <a:p>
                      <a:r>
                        <a:rPr sz="1000"/>
                        <a:t>Wie wird die Drittanbieter-Integration mit Pixlr umgesetzt?</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c>
                  <a:txBody>
                    <a:bodyPr/>
                    <a:p>
                      <a:r>
                        <a:rPr sz="1000"/>
                        <a:t>1) Pixlr REST-API</a:t>
                      </a:r>
                    </a:p>
                    <a:p>
                      <a:r>
                        <a:rPr sz="1000"/>
                        <a:t>2) Pixlr SDK einbetten</a:t>
                      </a:r>
                    </a:p>
                    <a:p>
                      <a:r>
                        <a:rPr sz="1000"/>
                        <a:t>3) WebView/iFrame-Integration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c>
                  <a:txBody>
                    <a:bodyPr/>
                    <a:p>
                      <a:r>
                        <a:rPr sz="1000"/>
                        <a:t>REST-API-Integration – Lose Kopplung ermöglicht einfachen Austausch des Anbieters bei Bedarf. SDK-Einbettung würde zu starker Abhängigkeit führen, iFrame bietet schlechte User Experience auf Mobilgeräten.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r>
              <a:tr h="370800">
                <a:tc>
                  <a:txBody>
                    <a:bodyPr/>
                    <a:p>
                      <a:r>
                        <a:rPr sz="1000"/>
                        <a:t>Wie wird die Benutzer-Authentifizierung umgesetzt?</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1) Eigene Authentifizierung (E-Mail/Passwort)</a:t>
                      </a:r>
                    </a:p>
                    <a:p>
                      <a:r>
                        <a:rPr sz="1000"/>
                        <a:t>2) OAuth 2.0 mit Social Login</a:t>
                      </a:r>
                    </a:p>
                    <a:p>
                      <a:r>
                        <a:rPr sz="1000"/>
                        <a:t>3) Drittanbieter-Auth-Service (Auth0, Firebase Auth)</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OAuth 2.0 mit Social Login (Google, Apple) + E-Mail-Registrierung – Senkt die Einstiegshürde für die Zielgruppe (18–35), reduziert Sicherheitsrisiken durch bewährte Protokolle. Eigene Auth-Lösung wäre zu aufwändig für ein Start-Up.</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80000" y="114480"/>
            <a:ext cx="8775000" cy="438840"/>
          </a:xfrm>
          <a:prstGeom prst="rect">
            <a:avLst/>
          </a:prstGeom>
          <a:noFill/>
          <a:ln w="0">
            <a:noFill/>
          </a:ln>
        </p:spPr>
        <p:txBody>
          <a:bodyPr anchor="t">
            <a:normAutofit fontScale="94000"/>
          </a:bodyPr>
          <a:p>
            <a:pPr>
              <a:lnSpc>
                <a:spcPct val="90000"/>
              </a:lnSpc>
              <a:buNone/>
            </a:pPr>
            <a:r>
              <a:rPr b="1" lang="en-US" sz="2700" spc="-1" strike="noStrike">
                <a:solidFill>
                  <a:srgbClr val="000000"/>
                </a:solidFill>
                <a:latin typeface="Arial"/>
              </a:rPr>
              <a:t>Risks and Technical Debt</a:t>
            </a:r>
            <a:endParaRPr b="0" lang="de-DE" sz="2700" spc="-1" strike="noStrike">
              <a:solidFill>
                <a:srgbClr val="000000"/>
              </a:solidFill>
              <a:latin typeface="Arial"/>
            </a:endParaRPr>
          </a:p>
        </p:txBody>
      </p:sp>
      <p:sp>
        <p:nvSpPr>
          <p:cNvPr id="96" name="PlaceHolder 2"/>
          <p:cNvSpPr>
            <a:spLocks noGrp="1"/>
          </p:cNvSpPr>
          <p:nvPr>
            <p:ph type="ftr" idx="7"/>
          </p:nvPr>
        </p:nvSpPr>
        <p:spPr>
          <a:xfrm>
            <a:off x="2793240" y="4812480"/>
            <a:ext cx="5673960" cy="273600"/>
          </a:xfrm>
          <a:prstGeom prst="rect">
            <a:avLst/>
          </a:prstGeom>
          <a:noFill/>
          <a:ln w="0">
            <a:noFill/>
          </a:ln>
        </p:spPr>
        <p:txBody>
          <a:bodyPr anchor="ctr">
            <a:noAutofit/>
          </a:bodyPr>
          <a:lstStyle>
            <a:lvl1pPr algn="r">
              <a:lnSpc>
                <a:spcPct val="100000"/>
              </a:lnSpc>
              <a:buNone/>
              <a:defRPr b="0" lang="en-GB" sz="750" spc="-1" strike="noStrike">
                <a:solidFill>
                  <a:srgbClr val="000000"/>
                </a:solidFill>
                <a:latin typeface="Arial"/>
              </a:defRPr>
            </a:lvl1pPr>
          </a:lstStyle>
          <a:p>
            <a:pPr algn="r">
              <a:lnSpc>
                <a:spcPct val="100000"/>
              </a:lnSpc>
              <a:buNone/>
            </a:pPr>
            <a:r>
              <a:rPr b="0" lang="en-GB" sz="750" spc="-1" strike="noStrike">
                <a:solidFill>
                  <a:srgbClr val="000000"/>
                </a:solidFill>
                <a:latin typeface="Arial"/>
              </a:rPr>
              <a:t>Software Architecture</a:t>
            </a:r>
            <a:endParaRPr b="0" lang="en-US" sz="750" spc="-1" strike="noStrike">
              <a:latin typeface="Times New Roman"/>
            </a:endParaRPr>
          </a:p>
        </p:txBody>
      </p:sp>
      <p:sp>
        <p:nvSpPr>
          <p:cNvPr id="97" name="PlaceHolder 3"/>
          <p:cNvSpPr>
            <a:spLocks noGrp="1"/>
          </p:cNvSpPr>
          <p:nvPr>
            <p:ph type="sldNum" idx="8"/>
          </p:nvPr>
        </p:nvSpPr>
        <p:spPr>
          <a:xfrm>
            <a:off x="8542080" y="4812480"/>
            <a:ext cx="484920" cy="273600"/>
          </a:xfrm>
          <a:prstGeom prst="rect">
            <a:avLst/>
          </a:prstGeom>
          <a:noFill/>
          <a:ln w="0">
            <a:noFill/>
          </a:ln>
        </p:spPr>
        <p:txBody>
          <a:bodyPr anchor="ctr">
            <a:noAutofit/>
          </a:bodyPr>
          <a:lstStyle>
            <a:lvl1pPr algn="r">
              <a:lnSpc>
                <a:spcPct val="100000"/>
              </a:lnSpc>
              <a:buNone/>
              <a:defRPr b="0" lang="en-GB" sz="900" spc="-1" strike="noStrike">
                <a:solidFill>
                  <a:srgbClr val="000000"/>
                </a:solidFill>
                <a:latin typeface="Arial"/>
              </a:defRPr>
            </a:lvl1pPr>
          </a:lstStyle>
          <a:p>
            <a:pPr algn="r">
              <a:lnSpc>
                <a:spcPct val="100000"/>
              </a:lnSpc>
              <a:buNone/>
            </a:pPr>
            <a:fld id="{80ADC80E-AA72-489B-A6F1-E93A4469FB37}" type="slidenum">
              <a:rPr b="0" lang="en-GB" sz="900" spc="-1" strike="noStrike">
                <a:solidFill>
                  <a:srgbClr val="000000"/>
                </a:solidFill>
                <a:latin typeface="Arial"/>
              </a:rPr>
              <a:t>&lt;number&gt;</a:t>
            </a:fld>
            <a:endParaRPr b="0" lang="en-US" sz="900" spc="-1" strike="noStrike">
              <a:latin typeface="Times New Roman"/>
            </a:endParaRPr>
          </a:p>
        </p:txBody>
      </p:sp>
      <p:sp>
        <p:nvSpPr>
          <p:cNvPr id="98" name="Textplatzhalter 6"/>
          <p:cNvSpPr/>
          <p:nvPr/>
        </p:nvSpPr>
        <p:spPr>
          <a:xfrm>
            <a:off x="180000" y="2144880"/>
            <a:ext cx="8775000" cy="2512080"/>
          </a:xfrm>
          <a:prstGeom prst="rect">
            <a:avLst/>
          </a:prstGeom>
          <a:noFill/>
          <a:ln w="0">
            <a:noFill/>
          </a:ln>
        </p:spPr>
        <p:style>
          <a:lnRef idx="0"/>
          <a:fillRef idx="0"/>
          <a:effectRef idx="0"/>
          <a:fontRef idx="minor"/>
        </p:style>
        <p:txBody>
          <a:bodyPr anchor="t">
            <a:normAutofit/>
          </a:bodyPr>
          <a:p>
            <a:pPr>
              <a:lnSpc>
                <a:spcPct val="90000"/>
              </a:lnSpc>
              <a:spcBef>
                <a:spcPts val="374"/>
              </a:spcBef>
              <a:spcAft>
                <a:spcPts val="374"/>
              </a:spcAft>
              <a:buNone/>
              <a:tabLst>
                <a:tab algn="l" pos="0"/>
              </a:tabLst>
            </a:pPr>
            <a:r>
              <a:rPr b="0" i="1" lang="en-US" sz="1200" spc="-1" strike="noStrike">
                <a:solidFill>
                  <a:srgbClr val="72777a"/>
                </a:solidFill>
                <a:latin typeface="Arial"/>
              </a:rPr>
              <a:t>This should be your motto for systematic detection and evaluation of risks and technical debts in the architecture, which will be needed by management stakeholders (e.g. project managers, product owners) as part of the overall risk analysis and measurement planning.</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Define three risks and/or technical debts, probably including suggested measures to minimize, mitigate or avoid risks or reduce technical debts.</a:t>
            </a:r>
            <a:endParaRPr b="0" lang="en-US" sz="1200" spc="-1" strike="noStrike">
              <a:latin typeface="Arial"/>
            </a:endParaRPr>
          </a:p>
          <a:p>
            <a:pPr>
              <a:lnSpc>
                <a:spcPct val="90000"/>
              </a:lnSpc>
              <a:spcBef>
                <a:spcPts val="374"/>
              </a:spcBef>
              <a:spcAft>
                <a:spcPts val="374"/>
              </a:spcAft>
              <a:buNone/>
              <a:tabLst>
                <a:tab algn="l" pos="0"/>
              </a:tabLst>
            </a:pPr>
            <a:r>
              <a:rPr b="0" lang="en-US" sz="1200" spc="-1" strike="noStrike">
                <a:solidFill>
                  <a:srgbClr val="72777a"/>
                </a:solidFill>
                <a:latin typeface="Arial"/>
              </a:rPr>
              <a:t>Help: </a:t>
            </a:r>
            <a:r>
              <a:rPr b="0" lang="en-US" sz="1200" spc="-1" strike="noStrike" u="sng">
                <a:solidFill>
                  <a:srgbClr val="00649c"/>
                </a:solidFill>
                <a:uFillTx/>
                <a:latin typeface="Arial"/>
                <a:hlinkClick r:id="rId1"/>
              </a:rPr>
              <a:t>https://docs.arc42.org/section-11/</a:t>
            </a:r>
            <a:r>
              <a:rPr b="0" lang="en-US" sz="1200" spc="-1" strike="noStrike">
                <a:solidFill>
                  <a:srgbClr val="72777a"/>
                </a:solidFill>
                <a:latin typeface="Arial"/>
              </a:rPr>
              <a:t> &amp; </a:t>
            </a:r>
            <a:r>
              <a:rPr b="0" lang="en-US" sz="1200" spc="-1" strike="noStrike" u="sng">
                <a:solidFill>
                  <a:srgbClr val="00649c"/>
                </a:solidFill>
                <a:uFillTx/>
                <a:latin typeface="Arial"/>
                <a:hlinkClick r:id="rId2"/>
              </a:rPr>
              <a:t>https://docs.arc42.org/examples/risk-htmlsc-1/</a:t>
            </a:r>
            <a:r>
              <a:rPr b="0" lang="en-US" sz="1200" spc="-1" strike="noStrike">
                <a:solidFill>
                  <a:srgbClr val="72777a"/>
                </a:solidFill>
                <a:latin typeface="Arial"/>
              </a:rPr>
              <a:t> </a:t>
            </a:r>
            <a:endParaRPr b="0" lang="en-US" sz="1200" spc="-1" strike="noStrike">
              <a:latin typeface="Arial"/>
            </a:endParaRPr>
          </a:p>
        </p:txBody>
      </p:sp>
      <p:graphicFrame>
        <p:nvGraphicFramePr>
          <p:cNvPr id="99" name="Table 2"/>
          <p:cNvGraphicFramePr/>
          <p:nvPr/>
        </p:nvGraphicFramePr>
        <p:xfrm>
          <a:off x="180000" y="607680"/>
          <a:ext cx="8775000" cy="1482840"/>
        </p:xfrm>
        <a:graphic>
          <a:graphicData uri="http://schemas.openxmlformats.org/drawingml/2006/table">
            <a:tbl>
              <a:tblPr/>
              <a:tblGrid>
                <a:gridCol w="2569320"/>
                <a:gridCol w="6205680"/>
              </a:tblGrid>
              <a:tr h="370800">
                <a:tc>
                  <a:txBody>
                    <a:bodyPr anchor="t">
                      <a:noAutofit/>
                    </a:bodyPr>
                    <a:p>
                      <a:pPr>
                        <a:lnSpc>
                          <a:spcPct val="100000"/>
                        </a:lnSpc>
                        <a:buNone/>
                      </a:pPr>
                      <a:r>
                        <a:rPr b="1" lang="en-US" sz="1350" spc="-1" strike="noStrike">
                          <a:solidFill>
                            <a:srgbClr val="ffffff"/>
                          </a:solidFill>
                          <a:latin typeface="Arial"/>
                        </a:rPr>
                        <a:t>Risk/Technical Debt</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c>
                  <a:txBody>
                    <a:bodyPr anchor="t">
                      <a:noAutofit/>
                    </a:bodyPr>
                    <a:p>
                      <a:pPr>
                        <a:lnSpc>
                          <a:spcPct val="100000"/>
                        </a:lnSpc>
                        <a:buNone/>
                      </a:pPr>
                      <a:r>
                        <a:rPr b="1" lang="en-US" sz="1350" spc="-1" strike="noStrike">
                          <a:solidFill>
                            <a:srgbClr val="ffffff"/>
                          </a:solidFill>
                          <a:latin typeface="Arial"/>
                        </a:rPr>
                        <a:t>Description</a:t>
                      </a:r>
                      <a:endParaRPr b="0" lang="en-US" sz="135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72777a"/>
                    </a:solidFill>
                  </a:tcPr>
                </a:tc>
              </a:tr>
              <a:tr h="370800">
                <a:tc>
                  <a:txBody>
                    <a:bodyPr/>
                    <a:p>
                      <a:r>
                        <a:rPr sz="1000"/>
                        <a:t>Abhängigkeit von Pixlr (Vendor Lock-in)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Die Pixlr-API ist ein zentraler Bestandteil der App (Bildbearbeitung). Wenn Pixlr die API ändert, einstellt oder die Preise erhöht, ist eine Kernfunktion betroffen.</a:t>
                      </a:r>
                    </a:p>
                    <a:p/>
                    <a:p>
                      <a:r>
                        <a:rPr sz="1000"/>
                        <a:t>Maßnahme: Adapter-Pattern für die Pixlr-Integration verwenden, sodass der Anbieter bei Bedarf ausgetauscht werden kann, ohne den Rest der Anwendung zu verändern.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r h="370800">
                <a:tc>
                  <a:txBody>
                    <a:bodyPr/>
                    <a:p>
                      <a:r>
                        <a:rPr sz="1000"/>
                        <a:t>Skalierungsprobleme bei Bilddaten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c>
                  <a:txBody>
                    <a:bodyPr/>
                    <a:p>
                      <a:r>
                        <a:rPr sz="1000"/>
                        <a:t>Bilder erzeugen große Datenmengen. Bei schnellem Nutzerwachstum können Speicherkosten explodieren und Ladezeiten steigen, wenn keine Bildkomprimierung und kein CDN eingesetzt werden.</a:t>
                      </a:r>
                    </a:p>
                    <a:p/>
                    <a:p>
                      <a:r>
                        <a:rPr sz="1000"/>
                        <a:t>Maßnahme: Bilder serverseitig komprimieren und in verschiedenen Auflösungen speichern (Thumbnails), CDN für globale Auslieferung nutzen, Speicherkosten regelmäßig monitoren.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bebeb"/>
                    </a:solidFill>
                  </a:tcPr>
                </a:tc>
              </a:tr>
              <a:tr h="370800">
                <a:tc>
                  <a:txBody>
                    <a:bodyPr/>
                    <a:p>
                      <a:r>
                        <a:rPr sz="1000"/>
                        <a:t>DSGVO-Compliance bei nutzergenerierten Inhalten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c>
                  <a:txBody>
                    <a:bodyPr/>
                    <a:p>
                      <a:r>
                        <a:rPr sz="1000"/>
                        <a:t>Die App speichert personenbezogene Daten (Profile, Bilder, Kommentare) und Zahlungsinformationen. Mangelnde Datenschutz-Compliance kann zu rechtlichen Konsequenzen und Vertrauensverlust führen.</a:t>
                      </a:r>
                    </a:p>
                    <a:p/>
                    <a:p>
                      <a:r>
                        <a:rPr sz="1000"/>
                        <a:t>Maßnahme: Privacy-by-Design-Prinzipien von Anfang an umsetzen, Datenlösch-Funktionalität implementieren (Recht auf Vergessenwerden), regelmäßige Datenschutz-Audits einplanen.</a:t>
                      </a: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5d6d6"/>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72777a"/>
      </a:dk2>
      <a:lt2>
        <a:srgbClr val="ffffff"/>
      </a:lt2>
      <a:accent1>
        <a:srgbClr val="72777a"/>
      </a:accent1>
      <a:accent2>
        <a:srgbClr val="aaadaf"/>
      </a:accent2>
      <a:accent3>
        <a:srgbClr val="8bb31d"/>
      </a:accent3>
      <a:accent4>
        <a:srgbClr val="b9d177"/>
      </a:accent4>
      <a:accent5>
        <a:srgbClr val="00649c"/>
      </a:accent5>
      <a:accent6>
        <a:srgbClr val="66a2c4"/>
      </a:accent6>
      <a:hlink>
        <a:srgbClr val="00649c"/>
      </a:hlink>
      <a:folHlink>
        <a:srgbClr val="323f4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72777a"/>
      </a:dk2>
      <a:lt2>
        <a:srgbClr val="ffffff"/>
      </a:lt2>
      <a:accent1>
        <a:srgbClr val="72777a"/>
      </a:accent1>
      <a:accent2>
        <a:srgbClr val="aaadaf"/>
      </a:accent2>
      <a:accent3>
        <a:srgbClr val="8bb31d"/>
      </a:accent3>
      <a:accent4>
        <a:srgbClr val="b9d177"/>
      </a:accent4>
      <a:accent5>
        <a:srgbClr val="00649c"/>
      </a:accent5>
      <a:accent6>
        <a:srgbClr val="66a2c4"/>
      </a:accent6>
      <a:hlink>
        <a:srgbClr val="00649c"/>
      </a:hlink>
      <a:folHlink>
        <a:srgbClr val="323f4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FHTW_PowerPoint</Template>
  <TotalTime>7</TotalTime>
  <Application>LibreOffice/7.3.7.2$Linux_X86_64 LibreOffice_project/30$Build-2</Application>
  <AppVersion>15.0000</AppVersion>
  <Words>290</Words>
  <Paragraphs>28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2022-06-08T12:45:54Z</dcterms:created>
  <dc:creator>Marvin Kosmider</dc:creator>
  <dc:description/>
  <dc:language>de-AT</dc:language>
  <cp:lastModifiedBy/>
  <dcterms:modified xsi:type="dcterms:W3CDTF">2024-07-21T17:57:16Z</dcterms:modified>
  <cp:revision>8</cp:revision>
  <dc:subject/>
  <dc:title>Titel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i4>4</vt:i4>
  </property>
</Properties>
</file>